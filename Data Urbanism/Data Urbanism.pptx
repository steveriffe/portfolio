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9144000"/>
  <p:embeddedFontLst>
    <p:embeddedFont>
      <p:font typeface="Inter Light"/>
      <p:regular r:id="rId21"/>
      <p:bold r:id="rId22"/>
      <p:italic r:id="rId23"/>
      <p:boldItalic r:id="rId24"/>
    </p:embeddedFont>
    <p:embeddedFont>
      <p:font typeface="Inter"/>
      <p:regular r:id="rId25"/>
      <p:bold r:id="rId26"/>
      <p:italic r:id="rId27"/>
      <p:boldItalic r:id="rId28"/>
    </p:embeddedFont>
    <p:embeddedFont>
      <p:font typeface="Outfit"/>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1" roundtripDataSignature="AMtx7miqTGNPvNKm2B2u/kJ5/Se93cPg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InterLight-bold.fntdata"/><Relationship Id="rId21" Type="http://schemas.openxmlformats.org/officeDocument/2006/relationships/font" Target="fonts/InterLight-regular.fntdata"/><Relationship Id="rId24" Type="http://schemas.openxmlformats.org/officeDocument/2006/relationships/font" Target="fonts/InterLight-boldItalic.fntdata"/><Relationship Id="rId23" Type="http://schemas.openxmlformats.org/officeDocument/2006/relationships/font" Target="fonts/InterLight-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nter-bold.fntdata"/><Relationship Id="rId25" Type="http://schemas.openxmlformats.org/officeDocument/2006/relationships/font" Target="fonts/Inter-regular.fntdata"/><Relationship Id="rId28" Type="http://schemas.openxmlformats.org/officeDocument/2006/relationships/font" Target="fonts/Inter-boldItalic.fntdata"/><Relationship Id="rId27" Type="http://schemas.openxmlformats.org/officeDocument/2006/relationships/font" Target="fonts/Inter-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utfit-regular.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Outfit-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I’m thrilled to present </a:t>
            </a:r>
            <a:r>
              <a:rPr b="1" lang="en-US">
                <a:solidFill>
                  <a:schemeClr val="dk1"/>
                </a:solidFill>
              </a:rPr>
              <a:t>Data Urbanism</a:t>
            </a:r>
            <a:r>
              <a:rPr lang="en-US">
                <a:solidFill>
                  <a:schemeClr val="dk1"/>
                </a:solidFill>
              </a:rPr>
              <a:t>, a concept I’ve been developing for several years at the intersection of the built environment and digital infrastructure.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For over 15 years, my ‘office’ was the world of steel and concrete, where I helped deliver massive infrastructure projects like the </a:t>
            </a:r>
            <a:r>
              <a:rPr b="1" lang="en-US">
                <a:solidFill>
                  <a:schemeClr val="dk1"/>
                </a:solidFill>
              </a:rPr>
              <a:t>Waterloo International</a:t>
            </a:r>
            <a:r>
              <a:rPr lang="en-US">
                <a:solidFill>
                  <a:schemeClr val="dk1"/>
                </a:solidFill>
              </a:rPr>
              <a:t> terminal and </a:t>
            </a:r>
            <a:r>
              <a:rPr b="1" lang="en-US">
                <a:solidFill>
                  <a:schemeClr val="dk1"/>
                </a:solidFill>
              </a:rPr>
              <a:t>Al Janoub Stadium</a:t>
            </a:r>
            <a:r>
              <a:rPr lang="en-US">
                <a:solidFill>
                  <a:schemeClr val="dk1"/>
                </a:solidFill>
              </a:rPr>
              <a:t>. Today, as a Data Visualization Engineer, I’ve realized that building a data ecosystem requires the same rigor as building a city.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Using the </a:t>
            </a:r>
            <a:r>
              <a:rPr b="1" lang="en-US">
                <a:solidFill>
                  <a:schemeClr val="dk1"/>
                </a:solidFill>
              </a:rPr>
              <a:t>RIBA Plan of Work</a:t>
            </a:r>
            <a:r>
              <a:rPr lang="en-US">
                <a:solidFill>
                  <a:schemeClr val="dk1"/>
                </a:solidFill>
              </a:rPr>
              <a:t> as our guide, I’ll show you how we can move past 'shiny dashboards' to build digital environments that truly breathe. My hope is that through these projects, you’ll see my deep appreciation for both the </a:t>
            </a:r>
            <a:r>
              <a:rPr b="1" lang="en-US">
                <a:solidFill>
                  <a:schemeClr val="dk1"/>
                </a:solidFill>
              </a:rPr>
              <a:t>design</a:t>
            </a:r>
            <a:r>
              <a:rPr lang="en-US">
                <a:solidFill>
                  <a:schemeClr val="dk1"/>
                </a:solidFill>
              </a:rPr>
              <a:t> that inspires and the </a:t>
            </a:r>
            <a:r>
              <a:rPr b="1" lang="en-US">
                <a:solidFill>
                  <a:schemeClr val="dk1"/>
                </a:solidFill>
              </a:rPr>
              <a:t>process</a:t>
            </a:r>
            <a:r>
              <a:rPr lang="en-US">
                <a:solidFill>
                  <a:schemeClr val="dk1"/>
                </a:solidFill>
              </a:rPr>
              <a:t> that ensures it actually works.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When we look at a city like Singapore, we judge it by its skyline—iconic silhouettes like these </a:t>
            </a:r>
            <a:r>
              <a:rPr b="1" lang="en-US">
                <a:solidFill>
                  <a:schemeClr val="dk1"/>
                </a:solidFill>
              </a:rPr>
              <a:t>Supertrees at Gardens by the Bay</a:t>
            </a:r>
            <a:r>
              <a:rPr lang="en-US">
                <a:solidFill>
                  <a:schemeClr val="dk1"/>
                </a:solidFill>
              </a:rPr>
              <a:t>. But a city is more than its skyline. It is a living, breathing organism defined by its systems. A beautiful tower is uninhabitable if the elevators or plumbing fail. A city is only as healthy as the </a:t>
            </a:r>
            <a:r>
              <a:rPr b="1" lang="en-US">
                <a:solidFill>
                  <a:schemeClr val="dk1"/>
                </a:solidFill>
              </a:rPr>
              <a:t>invisible machine</a:t>
            </a:r>
            <a:r>
              <a:rPr lang="en-US">
                <a:solidFill>
                  <a:schemeClr val="dk1"/>
                </a:solidFill>
              </a:rPr>
              <a:t> that sustains 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In our industry, we have a </a:t>
            </a:r>
            <a:r>
              <a:rPr b="1" lang="en-US">
                <a:solidFill>
                  <a:schemeClr val="dk1"/>
                </a:solidFill>
              </a:rPr>
              <a:t>'Skyline Problem.'</a:t>
            </a:r>
            <a:r>
              <a:rPr lang="en-US">
                <a:solidFill>
                  <a:schemeClr val="dk1"/>
                </a:solidFill>
              </a:rPr>
              <a:t> We judge our success by the Dashboard—that shiny, colorful ornament we place on top of a business for the CEO. But the dashboard is just the tip of the iceberg.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is where </a:t>
            </a:r>
            <a:r>
              <a:rPr b="1" lang="en-US">
                <a:solidFill>
                  <a:schemeClr val="dk1"/>
                </a:solidFill>
              </a:rPr>
              <a:t>Data Urbanism</a:t>
            </a:r>
            <a:r>
              <a:rPr lang="en-US">
                <a:solidFill>
                  <a:schemeClr val="dk1"/>
                </a:solidFill>
              </a:rPr>
              <a:t> comes in. It is the realization that the dashboard sits in a broader ecosystem.</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In this world, we aren't just 'painters' of dashboards; we are the </a:t>
            </a:r>
            <a:r>
              <a:rPr b="1" lang="en-US">
                <a:solidFill>
                  <a:schemeClr val="dk1"/>
                </a:solidFill>
              </a:rPr>
              <a:t>urbanists of a digital city</a:t>
            </a:r>
            <a:r>
              <a:rPr lang="en-US">
                <a:solidFill>
                  <a:schemeClr val="dk1"/>
                </a:solidFill>
              </a:rPr>
              <a:t>. Today</a:t>
            </a:r>
            <a:r>
              <a:rPr lang="en-US">
                <a:solidFill>
                  <a:schemeClr val="dk1"/>
                </a:solidFill>
              </a:rPr>
              <a:t> </a:t>
            </a:r>
            <a:r>
              <a:rPr lang="en-US">
                <a:solidFill>
                  <a:schemeClr val="dk1"/>
                </a:solidFill>
              </a:rPr>
              <a:t>I want to show you how we can use an established architectural framework to make sure our digital cities actually breathe.</a:t>
            </a:r>
            <a:endParaRPr>
              <a:solidFill>
                <a:schemeClr val="dk1"/>
              </a:solidFill>
            </a:endParaRPr>
          </a:p>
        </p:txBody>
      </p:sp>
      <p:sp>
        <p:nvSpPr>
          <p:cNvPr id="76" name="Google Shape;7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is the Woodland Trust Headquarters. It’s built with massive timber frames and natural ventilation. The place just feels light. It’s designed to respond to the people inside it rather than forcing them to adapt to the building. It’s... hospitable.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In architecture, we have a specific way of making sure projects stay this focused on the user. It's the </a:t>
            </a:r>
            <a:r>
              <a:rPr b="1" lang="en-US">
                <a:solidFill>
                  <a:schemeClr val="dk1"/>
                </a:solidFill>
              </a:rPr>
              <a:t>Royal Institute of British Architects’ Plan of Work</a:t>
            </a:r>
            <a:r>
              <a:rPr lang="en-US">
                <a:solidFill>
                  <a:schemeClr val="dk1"/>
                </a:solidFill>
              </a:rPr>
              <a:t>. It’s an eight-stage lifecycle that guides a project from a blank sheet of paper to a living building. And the core rule of that plan is that you don't start by pouring concrete; you start by figuring out how a person is actually going to move through the space.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Think about how we usually start a project. We tend to ask, 'What data do we have available?' but that’s like starting a building by looking at a pile of bricks. Instead, we should be asking: 'What does this person actually need to know to feel confident in their job?' It’s about starting with the user, not the inventory.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If a business user has to go on a scavenger hunt just to find a single number, then the system isn’t really working for them. It’s the same as architecture—if a building is too confusing to walk through, it’s a design failure. We have to design for the </a:t>
            </a:r>
            <a:r>
              <a:rPr b="1" lang="en-US">
                <a:solidFill>
                  <a:schemeClr val="dk1"/>
                </a:solidFill>
              </a:rPr>
              <a:t>human scale</a:t>
            </a:r>
            <a:r>
              <a:rPr lang="en-US">
                <a:solidFill>
                  <a:schemeClr val="dk1"/>
                </a:solidFill>
              </a:rPr>
              <a:t> first.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So, let's look at how that architectural plan helps us keep things on track.</a:t>
            </a:r>
            <a:endParaRPr>
              <a:solidFill>
                <a:schemeClr val="dk1"/>
              </a:solidFill>
              <a:latin typeface="Cambria"/>
              <a:ea typeface="Cambria"/>
              <a:cs typeface="Cambria"/>
              <a:sym typeface="Cambria"/>
            </a:endParaRPr>
          </a:p>
          <a:p>
            <a:pPr indent="0" lvl="0" marL="0" rtl="0" algn="l">
              <a:lnSpc>
                <a:spcPct val="115000"/>
              </a:lnSpc>
              <a:spcBef>
                <a:spcPts val="1200"/>
              </a:spcBef>
              <a:spcAft>
                <a:spcPts val="1200"/>
              </a:spcAft>
              <a:buSzPts val="1100"/>
              <a:buNone/>
            </a:pPr>
            <a:r>
              <a:t/>
            </a:r>
            <a:endParaRPr>
              <a:solidFill>
                <a:schemeClr val="dk1"/>
              </a:solidFill>
            </a:endParaRPr>
          </a:p>
        </p:txBody>
      </p:sp>
      <p:sp>
        <p:nvSpPr>
          <p:cNvPr id="85" name="Google Shape;85;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For a long time, architecture followed a pretty linear 'Waterfall' logic. You designed it, you built it, you handed over the keys, and you were done. On Budget, On Time and Still Standing? Success.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But in 2013, the RIBA Plan of Work went through a bit of a revolution. The industry realized that a finished building is the beginning. They stopped asking 'Is it finished?' and started asking 'How does it perform?' They began looking at actual outcomes—things ranging from energy efficiency to whether a hospital design has actually helped people heal better through design.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 think we’re still stuck in that older mindset. There’s a tendency to see our job as delivering a 'Product'. We hit 'Publish' in Tableau and move on.</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But if I build a dashboard and nobody ever opens it, it's not a success. The 'North Star' has to be the actual business outcome. It’s about treating what we build as a </a:t>
            </a:r>
            <a:r>
              <a:rPr b="1" lang="en-US">
                <a:solidFill>
                  <a:schemeClr val="dk1"/>
                </a:solidFill>
              </a:rPr>
              <a:t>Living Asset</a:t>
            </a:r>
            <a:r>
              <a:rPr lang="en-US">
                <a:solidFill>
                  <a:schemeClr val="dk1"/>
                </a:solidFill>
              </a:rPr>
              <a:t>. Just like a modern building has sensors to monitor its 'vital signs,' we need to keep an eye on the health and impact of our data systems long after the 'construction' is over.</a:t>
            </a:r>
            <a:endParaRPr/>
          </a:p>
        </p:txBody>
      </p:sp>
      <p:sp>
        <p:nvSpPr>
          <p:cNvPr id="94" name="Google Shape;9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 move into the circle at Stage 0, which is </a:t>
            </a:r>
            <a:r>
              <a:rPr b="1" lang="en-US">
                <a:solidFill>
                  <a:schemeClr val="dk1"/>
                </a:solidFill>
              </a:rPr>
              <a:t>Strategic Definition</a:t>
            </a:r>
            <a:r>
              <a:rPr lang="en-US">
                <a:solidFill>
                  <a:schemeClr val="dk1"/>
                </a:solidFill>
              </a:rPr>
              <a:t>. This is the part of the project that’s most tempting to skip or rush through, but it’s really where we handle the biggest contradictions.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Take the Lego House, for example. The brief was a paradox: a real, habitable home using 3.3 million Lego bricks. To make that work, we had to balance three very different 'truths' at the same time.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First, there was the </a:t>
            </a:r>
            <a:r>
              <a:rPr b="1" lang="en-US">
                <a:solidFill>
                  <a:schemeClr val="dk1"/>
                </a:solidFill>
              </a:rPr>
              <a:t>Vision</a:t>
            </a:r>
            <a:r>
              <a:rPr lang="en-US">
                <a:solidFill>
                  <a:schemeClr val="dk1"/>
                </a:solidFill>
              </a:rPr>
              <a:t>. The producers wanted it to look and feel exactly like it was made entirely of Lego. Then, there was the </a:t>
            </a:r>
            <a:r>
              <a:rPr b="1" lang="en-US">
                <a:solidFill>
                  <a:schemeClr val="dk1"/>
                </a:solidFill>
              </a:rPr>
              <a:t>Physics</a:t>
            </a:r>
            <a:r>
              <a:rPr lang="en-US">
                <a:solidFill>
                  <a:schemeClr val="dk1"/>
                </a:solidFill>
              </a:rPr>
              <a:t>. Technically, Lego can support the weight, but tolerances are microscopic. I actually spent a memorable day at work helping our engineers stress-test structural beams made of Lego bricks to see exactly when they’d fail. And finally, there was the </a:t>
            </a:r>
            <a:r>
              <a:rPr b="1" lang="en-US">
                <a:solidFill>
                  <a:schemeClr val="dk1"/>
                </a:solidFill>
              </a:rPr>
              <a:t>Reality</a:t>
            </a:r>
            <a:r>
              <a:rPr lang="en-US">
                <a:solidFill>
                  <a:schemeClr val="dk1"/>
                </a:solidFill>
              </a:rPr>
              <a:t>. For the realities of insurance and safety, we had to hide a secondary timber frame inside.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In the data world, Stage 0 is where we work through those contradictions. Clients come to us with a 'Lego Vision'—they want a novel, beautiful insight layer they can interact with. Our role is to define the hidden governance and the safety protocols—the wood frame—that ensures that vision doesn't collapse under technical or regulatory stress.</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We’re defining the 'Why' and the 'Constraints' here, so we don't have to argue about them later when we’re already halfway through the build.</a:t>
            </a:r>
            <a:endParaRPr/>
          </a:p>
        </p:txBody>
      </p:sp>
      <p:sp>
        <p:nvSpPr>
          <p:cNvPr id="103" name="Google Shape;10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In Stage 1, we move into the </a:t>
            </a:r>
            <a:r>
              <a:rPr b="1" lang="en-US">
                <a:solidFill>
                  <a:schemeClr val="dk1"/>
                </a:solidFill>
              </a:rPr>
              <a:t>Site Survey</a:t>
            </a:r>
            <a:r>
              <a:rPr lang="en-US">
                <a:solidFill>
                  <a:schemeClr val="dk1"/>
                </a:solidFill>
              </a:rPr>
              <a:t>. I like to think of this through the lens of Waterloo International. When Eurostar moved out to St Pancras, they left behind five 'ghost' platforms right in the middle of Europe’s busiest station.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challenge was to perform 'open-heart surgery' on a living terminal. We were weaving 21st-century infrastructure back into a Victorian domestic network without stopping a single commuter. In this stage, you don't just look at the blueprints—because quite often, the blueprints are wrong. You have to go under the floorboards.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As data professionals, we deal with this 'Waterloo Dilemma' all the time. We’re rarely building on a greenfield site.</a:t>
            </a:r>
            <a:endParaRPr>
              <a:solidFill>
                <a:schemeClr val="dk1"/>
              </a:solidFill>
            </a:endParaRPr>
          </a:p>
          <a:p>
            <a:pPr indent="0" lvl="0" marL="0" rtl="0" algn="l">
              <a:lnSpc>
                <a:spcPct val="115000"/>
              </a:lnSpc>
              <a:spcBef>
                <a:spcPts val="1200"/>
              </a:spcBef>
              <a:spcAft>
                <a:spcPts val="1200"/>
              </a:spcAft>
              <a:buSzPts val="1100"/>
              <a:buNone/>
            </a:pPr>
            <a:r>
              <a:rPr lang="en-US">
                <a:solidFill>
                  <a:schemeClr val="dk1"/>
                </a:solidFill>
              </a:rPr>
              <a:t>We’re looking for the </a:t>
            </a:r>
            <a:r>
              <a:rPr b="1" lang="en-US">
                <a:solidFill>
                  <a:schemeClr val="dk1"/>
                </a:solidFill>
              </a:rPr>
              <a:t>Heritage Assets</a:t>
            </a:r>
            <a:r>
              <a:rPr lang="en-US">
                <a:solidFill>
                  <a:schemeClr val="dk1"/>
                </a:solidFill>
              </a:rPr>
              <a:t>—the legacy logic that is actually the 'load-bearing' truth of how the business functions. We’re also looking for </a:t>
            </a:r>
            <a:r>
              <a:rPr b="1" lang="en-US">
                <a:solidFill>
                  <a:schemeClr val="dk1"/>
                </a:solidFill>
              </a:rPr>
              <a:t>Structural Decay</a:t>
            </a:r>
            <a:r>
              <a:rPr lang="en-US">
                <a:solidFill>
                  <a:schemeClr val="dk1"/>
                </a:solidFill>
              </a:rPr>
              <a:t>, those toxic data habits that are like asbestos hidden in the walls, ready to contaminate the new build.</a:t>
            </a:r>
            <a:endParaRPr/>
          </a:p>
        </p:txBody>
      </p:sp>
      <p:sp>
        <p:nvSpPr>
          <p:cNvPr id="113" name="Google Shape;11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once we’ve finished the survey, we move into Stage 2, which is </a:t>
            </a:r>
            <a:r>
              <a:rPr b="1" lang="en-US">
                <a:solidFill>
                  <a:schemeClr val="dk1"/>
                </a:solidFill>
              </a:rPr>
              <a:t>Concept Design</a:t>
            </a:r>
            <a:r>
              <a:rPr lang="en-US">
                <a:solidFill>
                  <a:schemeClr val="dk1"/>
                </a:solidFill>
              </a:rPr>
              <a: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Zaha Hadid was famous for these 'unbuildable' curves. When you look at Al Janoub stadium, it almost looks like it was poured into place. But beneath fluid lines, there’s a massive amount of mathematical rigor.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Stage 2 is the moment where poetic visions meet the reality of the grid.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Our stakeholders often come to us with </a:t>
            </a:r>
            <a:r>
              <a:rPr b="1" lang="en-US">
                <a:solidFill>
                  <a:schemeClr val="dk1"/>
                </a:solidFill>
              </a:rPr>
              <a:t>'Curved Dreams.'</a:t>
            </a:r>
            <a:r>
              <a:rPr lang="en-US">
                <a:solidFill>
                  <a:schemeClr val="dk1"/>
                </a:solidFill>
              </a:rPr>
              <a:t> They want 'Total Data Democracy,' 'Real-time Global Insights,' or 'Predictive AI.' These visions are usually beautiful, but they can be aerodynamically impossible.</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Our job in Stage 2 isn't to say 'no' to the curve. It’s to find the </a:t>
            </a:r>
            <a:r>
              <a:rPr b="1" lang="en-US">
                <a:solidFill>
                  <a:schemeClr val="dk1"/>
                </a:solidFill>
              </a:rPr>
              <a:t>Technical Logic</a:t>
            </a:r>
            <a:r>
              <a:rPr lang="en-US">
                <a:solidFill>
                  <a:schemeClr val="dk1"/>
                </a:solidFill>
              </a:rPr>
              <a:t> that makes it hold weight. We’re looking at the </a:t>
            </a:r>
            <a:r>
              <a:rPr b="1" lang="en-US">
                <a:solidFill>
                  <a:schemeClr val="dk1"/>
                </a:solidFill>
              </a:rPr>
              <a:t>geometry of the data</a:t>
            </a:r>
            <a:r>
              <a:rPr lang="en-US">
                <a:solidFill>
                  <a:schemeClr val="dk1"/>
                </a:solidFill>
              </a:rPr>
              <a:t>—how we break down a massive, 'curved' business vision into a modular schema that actually works.</a:t>
            </a:r>
            <a:endParaRPr/>
          </a:p>
        </p:txBody>
      </p:sp>
      <p:sp>
        <p:nvSpPr>
          <p:cNvPr id="123" name="Google Shape;12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In Stage 3, we get into </a:t>
            </a:r>
            <a:r>
              <a:rPr b="1" lang="en-US">
                <a:solidFill>
                  <a:schemeClr val="dk1"/>
                </a:solidFill>
              </a:rPr>
              <a:t>Spatial Coordination</a:t>
            </a:r>
            <a:r>
              <a:rPr lang="en-US">
                <a:solidFill>
                  <a:schemeClr val="dk1"/>
                </a:solidFill>
              </a:rPr>
              <a:t>. When we worked on Qasr al Hosn in Abu Dhabi, we didn't start with a hand-sketch. We started with a LIDAR scan, peppering this ancient stone fort with millions of laser points to create a 'Point Cloud'—a high-fidelity digital ghost of the physical site.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fed directly into our </a:t>
            </a:r>
            <a:r>
              <a:rPr b="1" lang="en-US">
                <a:solidFill>
                  <a:schemeClr val="dk1"/>
                </a:solidFill>
              </a:rPr>
              <a:t>BIM model</a:t>
            </a:r>
            <a:r>
              <a:rPr lang="en-US">
                <a:solidFill>
                  <a:schemeClr val="dk1"/>
                </a:solidFill>
              </a:rPr>
              <a:t>, or Building Information Modeling. With BIM, a building isn’t just a static 2D plan anymore. It’s a 3D database. Every stone, every beam, and every bolt has metadata attached to it—we know its material, its weight, its cost, and its history.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In the old world of data, we mostly built 'charts'—which are really just 2D blueprints of information. They’re static snapshots of the past. But in Data Urbanism, we’re trying to build a </a:t>
            </a:r>
            <a:r>
              <a:rPr b="1" lang="en-US">
                <a:solidFill>
                  <a:schemeClr val="dk1"/>
                </a:solidFill>
              </a:rPr>
              <a:t>Digital Twin</a:t>
            </a:r>
            <a:r>
              <a:rPr lang="en-US">
                <a:solidFill>
                  <a:schemeClr val="dk1"/>
                </a:solidFill>
              </a:rPr>
              <a:t> of the business.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Just like that BIM model knows where a bolt came from, a modern data stack—using tools like dbt and Snowflake—gives every metric a </a:t>
            </a:r>
            <a:r>
              <a:rPr b="1" lang="en-US">
                <a:solidFill>
                  <a:schemeClr val="dk1"/>
                </a:solidFill>
              </a:rPr>
              <a:t>lineage</a:t>
            </a:r>
            <a:r>
              <a:rPr lang="en-US">
                <a:solidFill>
                  <a:schemeClr val="dk1"/>
                </a:solidFill>
              </a:rPr>
              <a:t>. We know where the data was 'quarried,' who transformed it, and exactly how much it costs us to compute.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But the most important part of Stage 3 for an architect is </a:t>
            </a:r>
            <a:r>
              <a:rPr b="1" lang="en-US">
                <a:solidFill>
                  <a:schemeClr val="dk1"/>
                </a:solidFill>
              </a:rPr>
              <a:t>Clash Detection</a:t>
            </a:r>
            <a:r>
              <a:rPr lang="en-US">
                <a:solidFill>
                  <a:schemeClr val="dk1"/>
                </a:solidFill>
              </a:rPr>
              <a:t>. We’re checking the model to see if the plumbing hits the electrical lines before we start building. In data, we’re checking for </a:t>
            </a:r>
            <a:r>
              <a:rPr b="1" lang="en-US">
                <a:solidFill>
                  <a:schemeClr val="dk1"/>
                </a:solidFill>
              </a:rPr>
              <a:t>Logic Clashes</a:t>
            </a:r>
            <a:r>
              <a:rPr lang="en-US">
                <a:solidFill>
                  <a:schemeClr val="dk1"/>
                </a:solidFill>
              </a:rPr>
              <a:t>. We’re asking: 'Does the Marketing definition of a customer collide with the Finance definition?'</a:t>
            </a:r>
            <a:endParaRPr>
              <a:solidFill>
                <a:schemeClr val="dk1"/>
              </a:solidFill>
            </a:endParaRPr>
          </a:p>
          <a:p>
            <a:pPr indent="0" lvl="0" marL="0" rtl="0" algn="l">
              <a:lnSpc>
                <a:spcPct val="115000"/>
              </a:lnSpc>
              <a:spcBef>
                <a:spcPts val="1200"/>
              </a:spcBef>
              <a:spcAft>
                <a:spcPts val="1000"/>
              </a:spcAft>
              <a:buClr>
                <a:schemeClr val="dk1"/>
              </a:buClr>
              <a:buSzPts val="1100"/>
              <a:buFont typeface="Arial"/>
              <a:buNone/>
            </a:pPr>
            <a:r>
              <a:rPr lang="en-US">
                <a:solidFill>
                  <a:schemeClr val="dk1"/>
                </a:solidFill>
              </a:rPr>
              <a:t>We’re resolving those conflicts in the digital model so they don't become expensive mistakes on the 'construction site' later</a:t>
            </a:r>
            <a:r>
              <a:rPr lang="en-US">
                <a:solidFill>
                  <a:schemeClr val="dk1"/>
                </a:solidFill>
                <a:latin typeface="Cambria"/>
                <a:ea typeface="Cambria"/>
                <a:cs typeface="Cambria"/>
                <a:sym typeface="Cambria"/>
              </a:rPr>
              <a:t>.</a:t>
            </a:r>
            <a:endParaRPr/>
          </a:p>
        </p:txBody>
      </p:sp>
      <p:sp>
        <p:nvSpPr>
          <p:cNvPr id="133" name="Google Shape;133;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Once we’ve got the coordination down, we move into Stage 4, which is </a:t>
            </a:r>
            <a:r>
              <a:rPr b="1" lang="en-US">
                <a:solidFill>
                  <a:schemeClr val="dk1"/>
                </a:solidFill>
              </a:rPr>
              <a:t>Technical Design</a:t>
            </a:r>
            <a:r>
              <a:rPr lang="en-US">
                <a:solidFill>
                  <a:schemeClr val="dk1"/>
                </a:solidFill>
              </a:rPr>
              <a:t>. Schiphol Airport is a good example for this because adding Pier A was a bit like trying to add a new cylinder to a running engine while it's still humming. You don’t really get to 'beta test' a boarding gate.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Everything—every bolt,</a:t>
            </a:r>
            <a:r>
              <a:rPr lang="en-US">
                <a:solidFill>
                  <a:schemeClr val="dk1"/>
                </a:solidFill>
              </a:rPr>
              <a:t> HVAC </a:t>
            </a:r>
            <a:r>
              <a:rPr lang="en-US">
                <a:solidFill>
                  <a:schemeClr val="dk1"/>
                </a:solidFill>
              </a:rPr>
              <a:t>sensor and security interface—has to be specified. If the technical design is only 99% right, there’s a genuine risk a design decision causes the busiest hub in Europe to grind to a halt. In an airport, precision isn’t an aspirational goal; it’s a safety requirement.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In the data world, Stage 4 is where the architectural vision becomes actual </a:t>
            </a:r>
            <a:r>
              <a:rPr b="1" lang="en-US">
                <a:solidFill>
                  <a:schemeClr val="dk1"/>
                </a:solidFill>
              </a:rPr>
              <a:t>Production Code</a:t>
            </a:r>
            <a:r>
              <a:rPr lang="en-US">
                <a:solidFill>
                  <a:schemeClr val="dk1"/>
                </a:solidFill>
              </a:rPr>
              <a:t>. This is where we’re finalizing the ETL logic, the row-level security, and the API handshakes.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Just like that new pier had to plug into Schiphol’s existing baggage and security systems without a glitch, new data models have to fit into existing systems. We aren't there to break the 'legacy' gates just to build the new ones.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It really comes down to the </a:t>
            </a:r>
            <a:r>
              <a:rPr b="1" lang="en-US">
                <a:solidFill>
                  <a:schemeClr val="dk1"/>
                </a:solidFill>
              </a:rPr>
              <a:t>precision of the 'joins.'</a:t>
            </a:r>
            <a:r>
              <a:rPr lang="en-US">
                <a:solidFill>
                  <a:schemeClr val="dk1"/>
                </a:solidFill>
              </a:rPr>
              <a:t> If a SQL join is only 99% right, you don't just lose 1% of the data—you can lose the trust of the organization. </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We also treat security as part of the infrastructure, not something we bolt on at the end. We design the 'corridors' of data access so the right people can move through the system smoothly, and the wrong people are stopped before they even get close to the gate.</a:t>
            </a:r>
            <a:endParaRPr/>
          </a:p>
        </p:txBody>
      </p:sp>
      <p:sp>
        <p:nvSpPr>
          <p:cNvPr id="143" name="Google Shape;143;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Stage 5 is where we finally start building, but sometimes it looks a bit different than you might expect. Shell had a massive problem: an aging network of service stations across Europe, and if we had treated every single one as a bespoke project, it would have taken decades to modernize them.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So, we shifted our mindset from 'construction' to </a:t>
            </a:r>
            <a:r>
              <a:rPr b="1" lang="en-US">
                <a:solidFill>
                  <a:schemeClr val="dk1"/>
                </a:solidFill>
              </a:rPr>
              <a:t>Manufacturing</a:t>
            </a:r>
            <a:r>
              <a:rPr lang="en-US">
                <a:solidFill>
                  <a:schemeClr val="dk1"/>
                </a:solidFill>
              </a:rPr>
              <a:t>. We used a process called DfMA—Design for Manufacture and Assembly. Instead of cutting steel or pouring specialized concrete on-site, we built modular 'cassettes'—pre-fabricated shop units and tech hubs—in a controlled factory environment. By the time we got to the site, the 'build' was really just an assembly. What used to take months was suddenly taking weeks.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is exactly how we approach the modern data stack now. We aren't 'hand-coding' every single report from scratch anymore; we’re managing a </a:t>
            </a:r>
            <a:r>
              <a:rPr b="1" lang="en-US">
                <a:solidFill>
                  <a:schemeClr val="dk1"/>
                </a:solidFill>
              </a:rPr>
              <a:t>Data Supply Chain</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In tools like Snowflake and dbt, we use these 'pre-fab' blocks of code. Once we build a standardized 'Sales' or 'Customer' module, it becomes a part we can use across the entire enterprise. </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Because we’re assembling pre-tested parts rather than 'cutting steel' on-site every time, we can start to move at the speed of the business.</a:t>
            </a:r>
            <a:endParaRPr/>
          </a:p>
        </p:txBody>
      </p:sp>
      <p:sp>
        <p:nvSpPr>
          <p:cNvPr id="153" name="Google Shape;153;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After construction we reach Stage 6, which is </a:t>
            </a:r>
            <a:r>
              <a:rPr b="1" lang="en-US">
                <a:solidFill>
                  <a:schemeClr val="dk1"/>
                </a:solidFill>
              </a:rPr>
              <a:t>Handover</a:t>
            </a:r>
            <a:r>
              <a:rPr lang="en-US">
                <a:solidFill>
                  <a:schemeClr val="dk1"/>
                </a:solidFill>
              </a:rPr>
              <a:t>. For this, I think of the new airport in Istanbul. It is designed to be the most connective hub on the planet. To manage that kind of ambition, they commissioned this landmark Air Traffic Control tower, which we designed in a collaboration with Pininfarina—the same folks who design for Ferrari.</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It’s a beautiful building, but in Stage 6, beauty takes a backseat to </a:t>
            </a:r>
            <a:r>
              <a:rPr b="1" lang="en-US">
                <a:solidFill>
                  <a:schemeClr val="dk1"/>
                </a:solidFill>
              </a:rPr>
              <a:t>Operational Readiness</a:t>
            </a:r>
            <a:r>
              <a:rPr lang="en-US">
                <a:solidFill>
                  <a:schemeClr val="dk1"/>
                </a:solidFill>
              </a:rPr>
              <a:t>. Handover is the moment the people take command of the nerve center. A tower is essentially the brain of the airport, and it only 'works' when the controllers are empowered to manage the hundreds of flights moving through their airspace every hour.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 see the same transition in our data projects. We can spend months building a really sophisticated 'hub' for a client’s information, but the project isn't a success until the client can actually 'fly' the system themselves.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is the point where we move from being the 'Consultant' to being the </a:t>
            </a:r>
            <a:r>
              <a:rPr b="1" lang="en-US">
                <a:solidFill>
                  <a:schemeClr val="dk1"/>
                </a:solidFill>
              </a:rPr>
              <a:t>'Coach.'</a:t>
            </a:r>
            <a:r>
              <a:rPr lang="en-US">
                <a:solidFill>
                  <a:schemeClr val="dk1"/>
                </a:solidFill>
              </a:rPr>
              <a:t> We want to make sure the client isn't just handed a login and a 'good luck'; they need to be trained to interpret the signals. We’re providing the 'radar' and the 'radio'—the dashboards and the documentation—so they can keep their operations moving safely.</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Our goal is to leave the client standing in their own 'ATC tower,' looking out over their business with clarity</a:t>
            </a:r>
            <a:endParaRPr/>
          </a:p>
        </p:txBody>
      </p:sp>
      <p:sp>
        <p:nvSpPr>
          <p:cNvPr id="163" name="Google Shape;163;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 want to end the framework right where I started my career: at Laguna Honda Hospital. It’s a San Francisco institution, quite literally. It’s been dedicated to caring for the city’s most vulnerable people since the Gold Rush. When I walked through those doors, they were still using 'Nightingale Wings'— massive, open-air wards that hadn't really changed since the 1800s.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Modernizing Laguna Honda was spurred by regulations following the Northridge earthquake - but its ambition was broader; it was about moving into a sustainable future. It eventually became the first LEED-certified 'Green' hospital in California. For me, the real lesson wasn't in the certification; it was the realization that a building—or a city—is never really 'finished.'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In Stage 7, which we call </a:t>
            </a:r>
            <a:r>
              <a:rPr b="1" lang="en-US">
                <a:solidFill>
                  <a:schemeClr val="dk1"/>
                </a:solidFill>
              </a:rPr>
              <a:t>'Use,'</a:t>
            </a:r>
            <a:r>
              <a:rPr lang="en-US">
                <a:solidFill>
                  <a:schemeClr val="dk1"/>
                </a:solidFill>
              </a:rPr>
              <a:t> the architects have all gone home. This is where we look at 'Post-Occupancy.' We’re asking the big questions: Is the building actually serving the people inside? Is it healthy? Is it evolving?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In our world, Stage 7 is that first year after the consultants leave. Success isn't 'Launch'—it’s </a:t>
            </a:r>
            <a:r>
              <a:rPr b="1" lang="en-US">
                <a:solidFill>
                  <a:schemeClr val="dk1"/>
                </a:solidFill>
              </a:rPr>
              <a:t>Adoption</a:t>
            </a:r>
            <a:r>
              <a:rPr lang="en-US">
                <a:solidFill>
                  <a:schemeClr val="dk1"/>
                </a:solidFill>
              </a:rPr>
              <a:t>. Is the data still clean? Are people actually using it? How do we monitor the 'vital signs' of our data to make sure the system hasn't just been abandoned.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 also like to think about this as the </a:t>
            </a:r>
            <a:r>
              <a:rPr b="1" lang="en-US">
                <a:solidFill>
                  <a:schemeClr val="dk1"/>
                </a:solidFill>
              </a:rPr>
              <a:t>'Green Data Stack.'</a:t>
            </a:r>
            <a:r>
              <a:rPr lang="en-US">
                <a:solidFill>
                  <a:schemeClr val="dk1"/>
                </a:solidFill>
              </a:rPr>
              <a:t> Just like Laguna Honda is environmentally sustainable, we should be aiming for data sustainability: a stack that’s efficient to run and is easy for the client to maintain without needing an army of specialists.</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We’re trying to build for </a:t>
            </a:r>
            <a:r>
              <a:rPr b="1" lang="en-US">
                <a:solidFill>
                  <a:schemeClr val="dk1"/>
                </a:solidFill>
              </a:rPr>
              <a:t>longevity</a:t>
            </a:r>
            <a:r>
              <a:rPr lang="en-US">
                <a:solidFill>
                  <a:schemeClr val="dk1"/>
                </a:solidFill>
              </a:rPr>
              <a:t>.</a:t>
            </a:r>
            <a:endParaRPr/>
          </a:p>
        </p:txBody>
      </p:sp>
      <p:sp>
        <p:nvSpPr>
          <p:cNvPr id="173" name="Google Shape;173;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c77d4c9392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c77d4c939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b5bb15188f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 worked at a boutique architectural practice in London. I remember a residential project where we were deep into the 'Technical Design' phase. The foundations were set, the steel was specified.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Then, the client had a 'simple' idea. They wanted to move a kitchen island from one side of the kitchen to another. They also changed their minds about several finishes and fixtures.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In their mind, it was a couple of minor adjustments. Unfortunately not. There were implications to multiple services, requiring coordination and permit approvals. And those finishes and fixtures? Well, they had the misfortune of changing their minds right in the peak of the European holiday period when none of our suppliers were even picking up the phone.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 see this happen in Data Visualization. A stakeholder asks to 'just change the filter' or 'add one more data source.' They think they are moving furniture; they don't realize (or necessarily care!) they are asking us to move a load-bearing wall.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 think one reason this happens is that the data world lacks a common language for </a:t>
            </a:r>
            <a:r>
              <a:rPr i="1" lang="en-US">
                <a:solidFill>
                  <a:schemeClr val="dk1"/>
                </a:solidFill>
              </a:rPr>
              <a:t>stages of maturity</a:t>
            </a:r>
            <a:r>
              <a:rPr lang="en-US">
                <a:solidFill>
                  <a:schemeClr val="dk1"/>
                </a:solidFill>
              </a:rPr>
              <a:t>. We haven't had our own </a:t>
            </a:r>
            <a:r>
              <a:rPr b="1" lang="en-US">
                <a:solidFill>
                  <a:schemeClr val="dk1"/>
                </a:solidFill>
              </a:rPr>
              <a:t>RIBA Plan of Work</a:t>
            </a:r>
            <a:r>
              <a:rPr lang="en-US">
                <a:solidFill>
                  <a:schemeClr val="dk1"/>
                </a:solidFill>
              </a:rPr>
              <a:t>—a standardized map that tells us exactly when a design is 'fluid' and when the concrete is 'set.'</a:t>
            </a:r>
            <a:endParaRPr>
              <a:solidFill>
                <a:schemeClr val="dk1"/>
              </a:solidFill>
            </a:endParaRPr>
          </a:p>
          <a:p>
            <a:pPr indent="0" lvl="0" marL="0" rtl="0" algn="l">
              <a:lnSpc>
                <a:spcPct val="115000"/>
              </a:lnSpc>
              <a:spcBef>
                <a:spcPts val="1200"/>
              </a:spcBef>
              <a:spcAft>
                <a:spcPts val="1200"/>
              </a:spcAft>
              <a:buSzPts val="1100"/>
              <a:buNone/>
            </a:pPr>
            <a:r>
              <a:rPr lang="en-US">
                <a:solidFill>
                  <a:schemeClr val="dk1"/>
                </a:solidFill>
              </a:rPr>
              <a:t>Let’s look at how the physical world solves this, and what we can steal from them.</a:t>
            </a:r>
            <a:endParaRPr>
              <a:solidFill>
                <a:schemeClr val="dk1"/>
              </a:solidFill>
            </a:endParaRPr>
          </a:p>
        </p:txBody>
      </p:sp>
      <p:sp>
        <p:nvSpPr>
          <p:cNvPr id="188" name="Google Shape;188;g3b5bb15188f_0_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Between the vision of the architecture and the reality of the construction, there’s usually a bit of a gap. It’s that middle phase where things can start to feel a little overwhelming. This is the Frenson Estate Masterplan, it’s a drawing of </a:t>
            </a:r>
            <a:r>
              <a:rPr b="1" lang="en-US">
                <a:solidFill>
                  <a:schemeClr val="dk1"/>
                </a:solidFill>
              </a:rPr>
              <a:t>relationships</a:t>
            </a:r>
            <a:r>
              <a:rPr lang="en-US">
                <a:solidFill>
                  <a:schemeClr val="dk1"/>
                </a:solidFill>
              </a:rPr>
              <a:t>. It shows how everything connects.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In the RIBA framework, this is where the </a:t>
            </a:r>
            <a:r>
              <a:rPr b="1" lang="en-US">
                <a:solidFill>
                  <a:schemeClr val="dk1"/>
                </a:solidFill>
              </a:rPr>
              <a:t>Client Advisor</a:t>
            </a:r>
            <a:r>
              <a:rPr lang="en-US">
                <a:solidFill>
                  <a:schemeClr val="dk1"/>
                </a:solidFill>
              </a:rPr>
              <a:t> steps in. I think of them as 'Wayfinders.' When technical complexity gets really deep and the client starts to feel like they’re losing sight of the horizon, the Advisor is the one who points back to the masterplan to show them where they are.</a:t>
            </a:r>
            <a:endParaRPr>
              <a:solidFill>
                <a:schemeClr val="dk1"/>
              </a:solidFill>
            </a:endParaRPr>
          </a:p>
          <a:p>
            <a:pPr indent="0" lvl="0" marL="0" rtl="0" algn="l">
              <a:lnSpc>
                <a:spcPct val="115000"/>
              </a:lnSpc>
              <a:spcBef>
                <a:spcPts val="1200"/>
              </a:spcBef>
              <a:spcAft>
                <a:spcPts val="1200"/>
              </a:spcAft>
              <a:buSzPts val="1100"/>
              <a:buNone/>
            </a:pPr>
            <a:r>
              <a:rPr lang="en-US">
                <a:solidFill>
                  <a:schemeClr val="dk1"/>
                </a:solidFill>
              </a:rPr>
              <a:t>In the data world, we do the exact same thing. We’re there to make sure that even when the technical work gets complicated, the project never drifts away from the broader business strategy. We’re keeping the map open while the buildings are going up.</a:t>
            </a:r>
            <a:endParaRPr/>
          </a:p>
        </p:txBody>
      </p:sp>
      <p:sp>
        <p:nvSpPr>
          <p:cNvPr id="197" name="Google Shape;19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 started today looking at the Supertrees—a machine disguised as nature. We’re ending with this: The Claw.</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For most people, this was just a stage for a rock concert. It was temporary. It was meant to be dismantled and forgotten once the music stopped. But because the engineering was so rigorous—because the data behind its structural logic was so sound—it didn't disappear.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It became 'The Big Rig.' It became a permanent piece of the city’s bones.</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And that is the true heart of Data Urbanism. We aren't just building for the next five years or the next 'show.' We are coding the skeleton of the future.</a:t>
            </a:r>
            <a:endParaRPr>
              <a:solidFill>
                <a:schemeClr val="dk1"/>
              </a:solidFill>
            </a:endParaRPr>
          </a:p>
        </p:txBody>
      </p:sp>
      <p:sp>
        <p:nvSpPr>
          <p:cNvPr id="206" name="Google Shape;206;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1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4" name="Google Shape;24;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0" name="Google Shape;30;p1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1" name="Google Shape;3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 name="Shape 34"/>
        <p:cNvGrpSpPr/>
        <p:nvPr/>
      </p:nvGrpSpPr>
      <p:grpSpPr>
        <a:xfrm>
          <a:off x="0" y="0"/>
          <a:ext cx="0" cy="0"/>
          <a:chOff x="0" y="0"/>
          <a:chExt cx="0" cy="0"/>
        </a:xfrm>
      </p:grpSpPr>
      <p:sp>
        <p:nvSpPr>
          <p:cNvPr id="35" name="Google Shape;35;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7" name="Google Shape;37;p1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38" name="Google Shape;38;p1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9" name="Google Shape;39;p1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0" name="Google Shape;40;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2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1" name="Google Shape;51;p2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2" name="Google Shape;52;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5" name="Shape 55"/>
        <p:cNvGrpSpPr/>
        <p:nvPr/>
      </p:nvGrpSpPr>
      <p:grpSpPr>
        <a:xfrm>
          <a:off x="0" y="0"/>
          <a:ext cx="0" cy="0"/>
          <a:chOff x="0" y="0"/>
          <a:chExt cx="0" cy="0"/>
        </a:xfrm>
      </p:grpSpPr>
      <p:sp>
        <p:nvSpPr>
          <p:cNvPr id="56" name="Google Shape;56;p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2"/>
          <p:cNvSpPr/>
          <p:nvPr>
            <p:ph idx="2" type="pic"/>
          </p:nvPr>
        </p:nvSpPr>
        <p:spPr>
          <a:xfrm>
            <a:off x="1792288" y="612775"/>
            <a:ext cx="5486400" cy="4114800"/>
          </a:xfrm>
          <a:prstGeom prst="rect">
            <a:avLst/>
          </a:prstGeom>
          <a:noFill/>
          <a:ln>
            <a:noFill/>
          </a:ln>
        </p:spPr>
      </p:sp>
      <p:sp>
        <p:nvSpPr>
          <p:cNvPr id="58" name="Google Shape;58;p2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9" name="Google Shape;59;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2" name="Shape 62"/>
        <p:cNvGrpSpPr/>
        <p:nvPr/>
      </p:nvGrpSpPr>
      <p:grpSpPr>
        <a:xfrm>
          <a:off x="0" y="0"/>
          <a:ext cx="0" cy="0"/>
          <a:chOff x="0" y="0"/>
          <a:chExt cx="0" cy="0"/>
        </a:xfrm>
      </p:grpSpPr>
      <p:sp>
        <p:nvSpPr>
          <p:cNvPr id="63" name="Google Shape;63;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5" name="Google Shape;6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8" name="Shape 68"/>
        <p:cNvGrpSpPr/>
        <p:nvPr/>
      </p:nvGrpSpPr>
      <p:grpSpPr>
        <a:xfrm>
          <a:off x="0" y="0"/>
          <a:ext cx="0" cy="0"/>
          <a:chOff x="0" y="0"/>
          <a:chExt cx="0" cy="0"/>
        </a:xfrm>
      </p:grpSpPr>
      <p:sp>
        <p:nvSpPr>
          <p:cNvPr id="69" name="Google Shape;69;p2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jp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jp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jp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jp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jp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7.jp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jp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77" name="Shape 77"/>
        <p:cNvGrpSpPr/>
        <p:nvPr/>
      </p:nvGrpSpPr>
      <p:grpSpPr>
        <a:xfrm>
          <a:off x="0" y="0"/>
          <a:ext cx="0" cy="0"/>
          <a:chOff x="0" y="0"/>
          <a:chExt cx="0" cy="0"/>
        </a:xfrm>
      </p:grpSpPr>
      <p:pic>
        <p:nvPicPr>
          <p:cNvPr id="78" name="Google Shape;78;p1"/>
          <p:cNvPicPr preferRelativeResize="0"/>
          <p:nvPr/>
        </p:nvPicPr>
        <p:blipFill rotWithShape="1">
          <a:blip r:embed="rId3">
            <a:alphaModFix/>
          </a:blip>
          <a:srcRect b="3893" l="0" r="0" t="3893"/>
          <a:stretch/>
        </p:blipFill>
        <p:spPr>
          <a:xfrm>
            <a:off x="0" y="0"/>
            <a:ext cx="12192000" cy="6858000"/>
          </a:xfrm>
          <a:prstGeom prst="rect">
            <a:avLst/>
          </a:prstGeom>
          <a:noFill/>
          <a:ln>
            <a:noFill/>
          </a:ln>
        </p:spPr>
      </p:pic>
      <p:pic>
        <p:nvPicPr>
          <p:cNvPr descr="image.png" id="79" name="Google Shape;79;p1"/>
          <p:cNvPicPr preferRelativeResize="0"/>
          <p:nvPr/>
        </p:nvPicPr>
        <p:blipFill rotWithShape="1">
          <a:blip r:embed="rId4">
            <a:alphaModFix amt="50000"/>
          </a:blip>
          <a:srcRect b="0" l="0" r="0" t="0"/>
          <a:stretch/>
        </p:blipFill>
        <p:spPr>
          <a:xfrm>
            <a:off x="0" y="0"/>
            <a:ext cx="12192000" cy="6858000"/>
          </a:xfrm>
          <a:prstGeom prst="rect">
            <a:avLst/>
          </a:prstGeom>
          <a:noFill/>
          <a:ln>
            <a:noFill/>
          </a:ln>
        </p:spPr>
      </p:pic>
      <p:sp>
        <p:nvSpPr>
          <p:cNvPr id="80" name="Google Shape;80;p1"/>
          <p:cNvSpPr txBox="1"/>
          <p:nvPr/>
        </p:nvSpPr>
        <p:spPr>
          <a:xfrm>
            <a:off x="0" y="2690812"/>
            <a:ext cx="12192000" cy="110799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7200"/>
              <a:buFont typeface="Arial"/>
              <a:buNone/>
            </a:pPr>
            <a:r>
              <a:rPr b="0" i="0" lang="en-US" sz="7200" u="none" cap="none" strike="noStrike">
                <a:solidFill>
                  <a:srgbClr val="FFFFFF"/>
                </a:solidFill>
                <a:latin typeface="Outfit"/>
                <a:ea typeface="Outfit"/>
                <a:cs typeface="Outfit"/>
                <a:sym typeface="Outfit"/>
              </a:rPr>
              <a:t>Data Urbanism</a:t>
            </a:r>
            <a:endParaRPr b="0" i="0" sz="1400" u="none" cap="none" strike="noStrike">
              <a:solidFill>
                <a:srgbClr val="000000"/>
              </a:solidFill>
              <a:latin typeface="Arial"/>
              <a:ea typeface="Arial"/>
              <a:cs typeface="Arial"/>
              <a:sym typeface="Arial"/>
            </a:endParaRPr>
          </a:p>
        </p:txBody>
      </p:sp>
      <p:sp>
        <p:nvSpPr>
          <p:cNvPr id="81" name="Google Shape;81;p1"/>
          <p:cNvSpPr txBox="1"/>
          <p:nvPr/>
        </p:nvSpPr>
        <p:spPr>
          <a:xfrm>
            <a:off x="2397833" y="3795712"/>
            <a:ext cx="7505974" cy="21544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scaling digital infrastructure with the mindset of a city builder</a:t>
            </a:r>
            <a:endParaRPr b="0" i="0" sz="1400" u="none" cap="none" strike="noStrike">
              <a:solidFill>
                <a:srgbClr val="000000"/>
              </a:solidFill>
              <a:latin typeface="Arial"/>
              <a:ea typeface="Arial"/>
              <a:cs typeface="Arial"/>
              <a:sym typeface="Arial"/>
            </a:endParaRPr>
          </a:p>
        </p:txBody>
      </p:sp>
      <p:sp>
        <p:nvSpPr>
          <p:cNvPr id="82" name="Google Shape;82;p1"/>
          <p:cNvSpPr txBox="1"/>
          <p:nvPr/>
        </p:nvSpPr>
        <p:spPr>
          <a:xfrm>
            <a:off x="9382371" y="6596390"/>
            <a:ext cx="280181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Inter"/>
                <a:ea typeface="Inter"/>
                <a:cs typeface="Inter"/>
                <a:sym typeface="Inter"/>
              </a:rPr>
              <a:t>Gardens by the Bay, Singapore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86" name="Shape 86"/>
        <p:cNvGrpSpPr/>
        <p:nvPr/>
      </p:nvGrpSpPr>
      <p:grpSpPr>
        <a:xfrm>
          <a:off x="0" y="0"/>
          <a:ext cx="0" cy="0"/>
          <a:chOff x="0" y="0"/>
          <a:chExt cx="0" cy="0"/>
        </a:xfrm>
      </p:grpSpPr>
      <p:pic>
        <p:nvPicPr>
          <p:cNvPr descr="image.png" id="87" name="Google Shape;87;p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8" name="Google Shape;88;p2"/>
          <p:cNvPicPr preferRelativeResize="0"/>
          <p:nvPr/>
        </p:nvPicPr>
        <p:blipFill rotWithShape="1">
          <a:blip r:embed="rId4">
            <a:alphaModFix amt="50000"/>
          </a:blip>
          <a:srcRect b="0" l="0" r="0" t="0"/>
          <a:stretch/>
        </p:blipFill>
        <p:spPr>
          <a:xfrm>
            <a:off x="0" y="0"/>
            <a:ext cx="12192000" cy="6858000"/>
          </a:xfrm>
          <a:prstGeom prst="rect">
            <a:avLst/>
          </a:prstGeom>
          <a:noFill/>
          <a:ln>
            <a:noFill/>
          </a:ln>
        </p:spPr>
      </p:pic>
      <p:sp>
        <p:nvSpPr>
          <p:cNvPr id="89" name="Google Shape;89;p2"/>
          <p:cNvSpPr txBox="1"/>
          <p:nvPr/>
        </p:nvSpPr>
        <p:spPr>
          <a:xfrm>
            <a:off x="0" y="2812702"/>
            <a:ext cx="12192000" cy="8124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4800"/>
              <a:buFont typeface="Arial"/>
              <a:buNone/>
            </a:pPr>
            <a:r>
              <a:rPr b="0" i="0" lang="en-US" sz="4800" u="none" cap="none" strike="noStrike">
                <a:solidFill>
                  <a:srgbClr val="FFFFFF"/>
                </a:solidFill>
                <a:latin typeface="Outfit"/>
                <a:ea typeface="Outfit"/>
                <a:cs typeface="Outfit"/>
                <a:sym typeface="Outfit"/>
              </a:rPr>
              <a:t>The Human City</a:t>
            </a:r>
            <a:endParaRPr b="0" i="0" sz="1400" u="none" cap="none" strike="noStrike">
              <a:solidFill>
                <a:srgbClr val="000000"/>
              </a:solidFill>
              <a:latin typeface="Arial"/>
              <a:ea typeface="Arial"/>
              <a:cs typeface="Arial"/>
              <a:sym typeface="Arial"/>
            </a:endParaRPr>
          </a:p>
        </p:txBody>
      </p:sp>
      <p:sp>
        <p:nvSpPr>
          <p:cNvPr id="90" name="Google Shape;90;p2"/>
          <p:cNvSpPr txBox="1"/>
          <p:nvPr/>
        </p:nvSpPr>
        <p:spPr>
          <a:xfrm>
            <a:off x="3071812" y="3673673"/>
            <a:ext cx="6048300" cy="276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Inter Light"/>
                <a:ea typeface="Inter Light"/>
                <a:cs typeface="Inter Light"/>
                <a:sym typeface="Inter Light"/>
              </a:rPr>
              <a:t>built for the inhabitant</a:t>
            </a:r>
            <a:endParaRPr b="0" i="0" sz="1100" u="none" cap="none" strike="noStrike">
              <a:solidFill>
                <a:schemeClr val="lt1"/>
              </a:solidFill>
              <a:latin typeface="Arial"/>
              <a:ea typeface="Arial"/>
              <a:cs typeface="Arial"/>
              <a:sym typeface="Arial"/>
            </a:endParaRPr>
          </a:p>
        </p:txBody>
      </p:sp>
      <p:sp>
        <p:nvSpPr>
          <p:cNvPr id="91" name="Google Shape;91;p2"/>
          <p:cNvSpPr txBox="1"/>
          <p:nvPr/>
        </p:nvSpPr>
        <p:spPr>
          <a:xfrm>
            <a:off x="9382371" y="6596390"/>
            <a:ext cx="2801700" cy="2616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Inter"/>
                <a:ea typeface="Inter"/>
                <a:cs typeface="Inter"/>
                <a:sym typeface="Inter"/>
              </a:rPr>
              <a:t>Woodland Trust HQ, Grantham, UK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95" name="Shape 95"/>
        <p:cNvGrpSpPr/>
        <p:nvPr/>
      </p:nvGrpSpPr>
      <p:grpSpPr>
        <a:xfrm>
          <a:off x="0" y="0"/>
          <a:ext cx="0" cy="0"/>
          <a:chOff x="0" y="0"/>
          <a:chExt cx="0" cy="0"/>
        </a:xfrm>
      </p:grpSpPr>
      <p:sp>
        <p:nvSpPr>
          <p:cNvPr id="96" name="Google Shape;96;p3"/>
          <p:cNvSpPr txBox="1"/>
          <p:nvPr/>
        </p:nvSpPr>
        <p:spPr>
          <a:xfrm>
            <a:off x="0" y="2403127"/>
            <a:ext cx="12192000" cy="81253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4800"/>
              <a:buFont typeface="Arial"/>
              <a:buNone/>
            </a:pPr>
            <a:r>
              <a:rPr b="0" i="0" lang="en-US" sz="4800" u="none" cap="none" strike="noStrike">
                <a:solidFill>
                  <a:srgbClr val="FFFFFF"/>
                </a:solidFill>
                <a:latin typeface="Outfit"/>
                <a:ea typeface="Outfit"/>
                <a:cs typeface="Outfit"/>
                <a:sym typeface="Outfit"/>
              </a:rPr>
              <a:t>From Blueprints to Outcomes</a:t>
            </a:r>
            <a:endParaRPr b="0" i="0" sz="1400" u="none" cap="none" strike="noStrike">
              <a:solidFill>
                <a:srgbClr val="000000"/>
              </a:solidFill>
              <a:latin typeface="Arial"/>
              <a:ea typeface="Arial"/>
              <a:cs typeface="Arial"/>
              <a:sym typeface="Arial"/>
            </a:endParaRPr>
          </a:p>
        </p:txBody>
      </p:sp>
      <p:sp>
        <p:nvSpPr>
          <p:cNvPr id="97" name="Google Shape;97;p3"/>
          <p:cNvSpPr txBox="1"/>
          <p:nvPr/>
        </p:nvSpPr>
        <p:spPr>
          <a:xfrm>
            <a:off x="1628707" y="3508179"/>
            <a:ext cx="2940367" cy="27622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Inter"/>
                <a:ea typeface="Inter"/>
                <a:cs typeface="Inter"/>
                <a:sym typeface="Inter"/>
              </a:rPr>
              <a:t>LINEAR DELIVERY</a:t>
            </a:r>
            <a:endParaRPr b="0" i="0" sz="1400" u="none" cap="none" strike="noStrike">
              <a:solidFill>
                <a:schemeClr val="lt1"/>
              </a:solidFill>
              <a:latin typeface="Arial"/>
              <a:ea typeface="Arial"/>
              <a:cs typeface="Arial"/>
              <a:sym typeface="Arial"/>
            </a:endParaRPr>
          </a:p>
        </p:txBody>
      </p:sp>
      <p:sp>
        <p:nvSpPr>
          <p:cNvPr id="98" name="Google Shape;98;p3"/>
          <p:cNvSpPr txBox="1"/>
          <p:nvPr/>
        </p:nvSpPr>
        <p:spPr>
          <a:xfrm>
            <a:off x="7436215" y="3476013"/>
            <a:ext cx="2940367" cy="27622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Inter"/>
                <a:ea typeface="Inter"/>
                <a:cs typeface="Inter"/>
                <a:sym typeface="Inter"/>
              </a:rPr>
              <a:t>OUTCOME-CENTRIC</a:t>
            </a:r>
            <a:endParaRPr b="0" i="0" sz="1400" u="none" cap="none" strike="noStrike">
              <a:solidFill>
                <a:schemeClr val="lt1"/>
              </a:solidFill>
              <a:latin typeface="Arial"/>
              <a:ea typeface="Arial"/>
              <a:cs typeface="Arial"/>
              <a:sym typeface="Arial"/>
            </a:endParaRPr>
          </a:p>
        </p:txBody>
      </p:sp>
      <p:pic>
        <p:nvPicPr>
          <p:cNvPr descr="A group of black circles with white letters&#10;&#10;AI-generated content may be incorrect." id="99" name="Google Shape;99;p3"/>
          <p:cNvPicPr preferRelativeResize="0"/>
          <p:nvPr/>
        </p:nvPicPr>
        <p:blipFill rotWithShape="1">
          <a:blip r:embed="rId3">
            <a:alphaModFix/>
          </a:blip>
          <a:srcRect b="0" l="0" r="0" t="0"/>
          <a:stretch/>
        </p:blipFill>
        <p:spPr>
          <a:xfrm>
            <a:off x="1068993" y="3848757"/>
            <a:ext cx="4516112" cy="1170576"/>
          </a:xfrm>
          <a:prstGeom prst="rect">
            <a:avLst/>
          </a:prstGeom>
          <a:noFill/>
          <a:ln>
            <a:noFill/>
          </a:ln>
        </p:spPr>
      </p:pic>
      <p:pic>
        <p:nvPicPr>
          <p:cNvPr descr="A diagram of a diagram&#10;&#10;AI-generated content may be incorrect." id="100" name="Google Shape;100;p3"/>
          <p:cNvPicPr preferRelativeResize="0"/>
          <p:nvPr/>
        </p:nvPicPr>
        <p:blipFill rotWithShape="1">
          <a:blip r:embed="rId4">
            <a:alphaModFix/>
          </a:blip>
          <a:srcRect b="8337" l="3266" r="5387" t="6833"/>
          <a:stretch/>
        </p:blipFill>
        <p:spPr>
          <a:xfrm>
            <a:off x="7357959" y="3812194"/>
            <a:ext cx="3118169" cy="242743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04" name="Shape 104"/>
        <p:cNvGrpSpPr/>
        <p:nvPr/>
      </p:nvGrpSpPr>
      <p:grpSpPr>
        <a:xfrm>
          <a:off x="0" y="0"/>
          <a:ext cx="0" cy="0"/>
          <a:chOff x="0" y="0"/>
          <a:chExt cx="0" cy="0"/>
        </a:xfrm>
      </p:grpSpPr>
      <p:pic>
        <p:nvPicPr>
          <p:cNvPr id="105" name="Google Shape;105;p4"/>
          <p:cNvPicPr preferRelativeResize="0"/>
          <p:nvPr/>
        </p:nvPicPr>
        <p:blipFill rotWithShape="1">
          <a:blip r:embed="rId3">
            <a:alphaModFix/>
          </a:blip>
          <a:srcRect b="7344" l="0" r="0" t="7343"/>
          <a:stretch/>
        </p:blipFill>
        <p:spPr>
          <a:xfrm>
            <a:off x="-1" y="0"/>
            <a:ext cx="12192001" cy="6858000"/>
          </a:xfrm>
          <a:prstGeom prst="rect">
            <a:avLst/>
          </a:prstGeom>
          <a:noFill/>
          <a:ln>
            <a:noFill/>
          </a:ln>
        </p:spPr>
      </p:pic>
      <p:pic>
        <p:nvPicPr>
          <p:cNvPr descr="image.png" id="106" name="Google Shape;106;p4"/>
          <p:cNvPicPr preferRelativeResize="0"/>
          <p:nvPr/>
        </p:nvPicPr>
        <p:blipFill rotWithShape="1">
          <a:blip r:embed="rId4">
            <a:alphaModFix amt="50000"/>
          </a:blip>
          <a:srcRect b="0" l="0" r="0" t="0"/>
          <a:stretch/>
        </p:blipFill>
        <p:spPr>
          <a:xfrm>
            <a:off x="7814" y="0"/>
            <a:ext cx="12192000" cy="6858000"/>
          </a:xfrm>
          <a:prstGeom prst="rect">
            <a:avLst/>
          </a:prstGeom>
          <a:noFill/>
          <a:ln>
            <a:noFill/>
          </a:ln>
        </p:spPr>
      </p:pic>
      <p:sp>
        <p:nvSpPr>
          <p:cNvPr id="107" name="Google Shape;107;p4"/>
          <p:cNvSpPr txBox="1"/>
          <p:nvPr/>
        </p:nvSpPr>
        <p:spPr>
          <a:xfrm>
            <a:off x="0" y="2812702"/>
            <a:ext cx="12191999" cy="81253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4800"/>
              <a:buFont typeface="Arial"/>
              <a:buNone/>
            </a:pPr>
            <a:r>
              <a:rPr b="0" i="0" lang="en-US" sz="4800" u="none" cap="none" strike="noStrike">
                <a:solidFill>
                  <a:srgbClr val="FFFFFF"/>
                </a:solidFill>
                <a:latin typeface="Outfit"/>
                <a:ea typeface="Outfit"/>
                <a:cs typeface="Outfit"/>
                <a:sym typeface="Outfit"/>
              </a:rPr>
              <a:t>Fixed Units of Truth</a:t>
            </a:r>
            <a:endParaRPr b="0" i="0" sz="1400" u="none" cap="none" strike="noStrike">
              <a:solidFill>
                <a:srgbClr val="000000"/>
              </a:solidFill>
              <a:latin typeface="Arial"/>
              <a:ea typeface="Arial"/>
              <a:cs typeface="Arial"/>
              <a:sym typeface="Arial"/>
            </a:endParaRPr>
          </a:p>
        </p:txBody>
      </p:sp>
      <p:sp>
        <p:nvSpPr>
          <p:cNvPr id="108" name="Google Shape;108;p4"/>
          <p:cNvSpPr txBox="1"/>
          <p:nvPr/>
        </p:nvSpPr>
        <p:spPr>
          <a:xfrm>
            <a:off x="2024062" y="3673673"/>
            <a:ext cx="81438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Inter Light"/>
                <a:ea typeface="Inter Light"/>
                <a:cs typeface="Inter Light"/>
                <a:sym typeface="Inter Light"/>
              </a:rPr>
              <a:t>set the foundation before a single line is drawn</a:t>
            </a:r>
            <a:endParaRPr b="0" i="0" sz="1100" u="none" cap="none" strike="noStrike">
              <a:solidFill>
                <a:schemeClr val="lt1"/>
              </a:solidFill>
              <a:latin typeface="Arial"/>
              <a:ea typeface="Arial"/>
              <a:cs typeface="Arial"/>
              <a:sym typeface="Arial"/>
            </a:endParaRPr>
          </a:p>
        </p:txBody>
      </p:sp>
      <p:sp>
        <p:nvSpPr>
          <p:cNvPr id="109" name="Google Shape;109;p4"/>
          <p:cNvSpPr txBox="1"/>
          <p:nvPr/>
        </p:nvSpPr>
        <p:spPr>
          <a:xfrm>
            <a:off x="9382371" y="6596390"/>
            <a:ext cx="280181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Inter"/>
                <a:ea typeface="Inter"/>
                <a:cs typeface="Inter"/>
                <a:sym typeface="Inter"/>
              </a:rPr>
              <a:t>Lego House, Surrey, UK</a:t>
            </a:r>
            <a:endParaRPr b="0" i="0" sz="1400" u="none" cap="none" strike="noStrike">
              <a:solidFill>
                <a:srgbClr val="000000"/>
              </a:solidFill>
              <a:latin typeface="Arial"/>
              <a:ea typeface="Arial"/>
              <a:cs typeface="Arial"/>
              <a:sym typeface="Arial"/>
            </a:endParaRPr>
          </a:p>
        </p:txBody>
      </p:sp>
      <p:sp>
        <p:nvSpPr>
          <p:cNvPr id="110" name="Google Shape;110;p4"/>
          <p:cNvSpPr txBox="1"/>
          <p:nvPr/>
        </p:nvSpPr>
        <p:spPr>
          <a:xfrm>
            <a:off x="88388" y="6596390"/>
            <a:ext cx="75060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Inter"/>
                <a:ea typeface="Inter"/>
                <a:cs typeface="Inter"/>
                <a:sym typeface="Inter"/>
              </a:rPr>
              <a:t>Stage 0: Strategic Definition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14" name="Shape 114"/>
        <p:cNvGrpSpPr/>
        <p:nvPr/>
      </p:nvGrpSpPr>
      <p:grpSpPr>
        <a:xfrm>
          <a:off x="0" y="0"/>
          <a:ext cx="0" cy="0"/>
          <a:chOff x="0" y="0"/>
          <a:chExt cx="0" cy="0"/>
        </a:xfrm>
      </p:grpSpPr>
      <p:pic>
        <p:nvPicPr>
          <p:cNvPr descr="image.png" id="115" name="Google Shape;115;p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6" name="Google Shape;116;p5"/>
          <p:cNvPicPr preferRelativeResize="0"/>
          <p:nvPr/>
        </p:nvPicPr>
        <p:blipFill rotWithShape="1">
          <a:blip r:embed="rId4">
            <a:alphaModFix amt="50000"/>
          </a:blip>
          <a:srcRect b="0" l="0" r="0" t="0"/>
          <a:stretch/>
        </p:blipFill>
        <p:spPr>
          <a:xfrm>
            <a:off x="0" y="0"/>
            <a:ext cx="12192000" cy="6858000"/>
          </a:xfrm>
          <a:prstGeom prst="rect">
            <a:avLst/>
          </a:prstGeom>
          <a:noFill/>
          <a:ln>
            <a:noFill/>
          </a:ln>
        </p:spPr>
      </p:pic>
      <p:sp>
        <p:nvSpPr>
          <p:cNvPr id="117" name="Google Shape;117;p5"/>
          <p:cNvSpPr txBox="1"/>
          <p:nvPr/>
        </p:nvSpPr>
        <p:spPr>
          <a:xfrm>
            <a:off x="0" y="2812702"/>
            <a:ext cx="12192000" cy="81253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4800"/>
              <a:buFont typeface="Arial"/>
              <a:buNone/>
            </a:pPr>
            <a:r>
              <a:rPr b="0" i="0" lang="en-US" sz="4800" u="none" cap="none" strike="noStrike">
                <a:solidFill>
                  <a:srgbClr val="FFFFFF"/>
                </a:solidFill>
                <a:latin typeface="Outfit"/>
                <a:ea typeface="Outfit"/>
                <a:cs typeface="Outfit"/>
                <a:sym typeface="Outfit"/>
              </a:rPr>
              <a:t>Heritage Audit</a:t>
            </a:r>
            <a:endParaRPr b="0" i="0" sz="1400" u="none" cap="none" strike="noStrike">
              <a:solidFill>
                <a:srgbClr val="000000"/>
              </a:solidFill>
              <a:latin typeface="Arial"/>
              <a:ea typeface="Arial"/>
              <a:cs typeface="Arial"/>
              <a:sym typeface="Arial"/>
            </a:endParaRPr>
          </a:p>
        </p:txBody>
      </p:sp>
      <p:sp>
        <p:nvSpPr>
          <p:cNvPr id="118" name="Google Shape;118;p5"/>
          <p:cNvSpPr txBox="1"/>
          <p:nvPr/>
        </p:nvSpPr>
        <p:spPr>
          <a:xfrm>
            <a:off x="2605087" y="3673673"/>
            <a:ext cx="69819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Inter Light"/>
                <a:ea typeface="Inter Light"/>
                <a:cs typeface="Inter Light"/>
                <a:sym typeface="Inter Light"/>
              </a:rPr>
              <a:t>survey legacy data to unlock future potential</a:t>
            </a:r>
            <a:endParaRPr b="0" i="0" sz="1100" u="none" cap="none" strike="noStrike">
              <a:solidFill>
                <a:schemeClr val="lt1"/>
              </a:solidFill>
              <a:latin typeface="Arial"/>
              <a:ea typeface="Arial"/>
              <a:cs typeface="Arial"/>
              <a:sym typeface="Arial"/>
            </a:endParaRPr>
          </a:p>
        </p:txBody>
      </p:sp>
      <p:sp>
        <p:nvSpPr>
          <p:cNvPr id="119" name="Google Shape;119;p5"/>
          <p:cNvSpPr txBox="1"/>
          <p:nvPr/>
        </p:nvSpPr>
        <p:spPr>
          <a:xfrm>
            <a:off x="9382371" y="6596390"/>
            <a:ext cx="280181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Inter"/>
                <a:ea typeface="Inter"/>
                <a:cs typeface="Inter"/>
                <a:sym typeface="Inter"/>
              </a:rPr>
              <a:t>Waterloo International, London</a:t>
            </a:r>
            <a:endParaRPr b="0" i="0" sz="1400" u="none" cap="none" strike="noStrike">
              <a:solidFill>
                <a:srgbClr val="000000"/>
              </a:solidFill>
              <a:latin typeface="Arial"/>
              <a:ea typeface="Arial"/>
              <a:cs typeface="Arial"/>
              <a:sym typeface="Arial"/>
            </a:endParaRPr>
          </a:p>
        </p:txBody>
      </p:sp>
      <p:sp>
        <p:nvSpPr>
          <p:cNvPr id="120" name="Google Shape;120;p5"/>
          <p:cNvSpPr txBox="1"/>
          <p:nvPr/>
        </p:nvSpPr>
        <p:spPr>
          <a:xfrm>
            <a:off x="88388" y="6596390"/>
            <a:ext cx="7505974"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Inter"/>
                <a:ea typeface="Inter"/>
                <a:cs typeface="Inter"/>
                <a:sym typeface="Inter"/>
              </a:rPr>
              <a:t>Stage 1: Feasibility &amp; Site Survey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24" name="Shape 124"/>
        <p:cNvGrpSpPr/>
        <p:nvPr/>
      </p:nvGrpSpPr>
      <p:grpSpPr>
        <a:xfrm>
          <a:off x="0" y="0"/>
          <a:ext cx="0" cy="0"/>
          <a:chOff x="0" y="0"/>
          <a:chExt cx="0" cy="0"/>
        </a:xfrm>
      </p:grpSpPr>
      <p:pic>
        <p:nvPicPr>
          <p:cNvPr descr="image.png" id="125" name="Google Shape;125;p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6" name="Google Shape;126;p6"/>
          <p:cNvPicPr preferRelativeResize="0"/>
          <p:nvPr/>
        </p:nvPicPr>
        <p:blipFill rotWithShape="1">
          <a:blip r:embed="rId4">
            <a:alphaModFix amt="50000"/>
          </a:blip>
          <a:srcRect b="0" l="0" r="0" t="0"/>
          <a:stretch/>
        </p:blipFill>
        <p:spPr>
          <a:xfrm>
            <a:off x="0" y="0"/>
            <a:ext cx="12192000" cy="6858000"/>
          </a:xfrm>
          <a:prstGeom prst="rect">
            <a:avLst/>
          </a:prstGeom>
          <a:noFill/>
          <a:ln>
            <a:noFill/>
          </a:ln>
        </p:spPr>
      </p:pic>
      <p:sp>
        <p:nvSpPr>
          <p:cNvPr id="127" name="Google Shape;127;p6"/>
          <p:cNvSpPr txBox="1"/>
          <p:nvPr/>
        </p:nvSpPr>
        <p:spPr>
          <a:xfrm>
            <a:off x="0" y="2812702"/>
            <a:ext cx="12192000" cy="81253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4800"/>
              <a:buFont typeface="Arial"/>
              <a:buNone/>
            </a:pPr>
            <a:r>
              <a:rPr b="0" i="0" lang="en-US" sz="4800" u="none" cap="none" strike="noStrike">
                <a:solidFill>
                  <a:srgbClr val="FFFFFF"/>
                </a:solidFill>
                <a:latin typeface="Outfit"/>
                <a:ea typeface="Outfit"/>
                <a:cs typeface="Outfit"/>
                <a:sym typeface="Outfit"/>
              </a:rPr>
              <a:t>Mathematical Logic</a:t>
            </a:r>
            <a:endParaRPr b="0" i="0" sz="1400" u="none" cap="none" strike="noStrike">
              <a:solidFill>
                <a:srgbClr val="000000"/>
              </a:solidFill>
              <a:latin typeface="Arial"/>
              <a:ea typeface="Arial"/>
              <a:cs typeface="Arial"/>
              <a:sym typeface="Arial"/>
            </a:endParaRPr>
          </a:p>
        </p:txBody>
      </p:sp>
      <p:sp>
        <p:nvSpPr>
          <p:cNvPr id="128" name="Google Shape;128;p6"/>
          <p:cNvSpPr txBox="1"/>
          <p:nvPr/>
        </p:nvSpPr>
        <p:spPr>
          <a:xfrm>
            <a:off x="2700337" y="3673673"/>
            <a:ext cx="67914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Inter Light"/>
                <a:ea typeface="Inter Light"/>
                <a:cs typeface="Inter Light"/>
                <a:sym typeface="Inter Light"/>
              </a:rPr>
              <a:t>turn impossible curves into buildable code</a:t>
            </a:r>
            <a:endParaRPr b="0" i="0" sz="1100" u="none" cap="none" strike="noStrike">
              <a:solidFill>
                <a:schemeClr val="lt1"/>
              </a:solidFill>
              <a:latin typeface="Arial"/>
              <a:ea typeface="Arial"/>
              <a:cs typeface="Arial"/>
              <a:sym typeface="Arial"/>
            </a:endParaRPr>
          </a:p>
        </p:txBody>
      </p:sp>
      <p:sp>
        <p:nvSpPr>
          <p:cNvPr id="129" name="Google Shape;129;p6"/>
          <p:cNvSpPr txBox="1"/>
          <p:nvPr/>
        </p:nvSpPr>
        <p:spPr>
          <a:xfrm>
            <a:off x="9382371" y="6596390"/>
            <a:ext cx="280181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Inter"/>
                <a:ea typeface="Inter"/>
                <a:cs typeface="Inter"/>
                <a:sym typeface="Inter"/>
              </a:rPr>
              <a:t>Al Janoub Stadium, Qatar</a:t>
            </a:r>
            <a:endParaRPr b="0" i="0" sz="1400" u="none" cap="none" strike="noStrike">
              <a:solidFill>
                <a:srgbClr val="000000"/>
              </a:solidFill>
              <a:latin typeface="Arial"/>
              <a:ea typeface="Arial"/>
              <a:cs typeface="Arial"/>
              <a:sym typeface="Arial"/>
            </a:endParaRPr>
          </a:p>
        </p:txBody>
      </p:sp>
      <p:sp>
        <p:nvSpPr>
          <p:cNvPr id="130" name="Google Shape;130;p6"/>
          <p:cNvSpPr txBox="1"/>
          <p:nvPr/>
        </p:nvSpPr>
        <p:spPr>
          <a:xfrm>
            <a:off x="88388" y="6596390"/>
            <a:ext cx="7505974"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Inter"/>
                <a:ea typeface="Inter"/>
                <a:cs typeface="Inter"/>
                <a:sym typeface="Inter"/>
              </a:rPr>
              <a:t>Stage 2: Concept Design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34" name="Shape 134"/>
        <p:cNvGrpSpPr/>
        <p:nvPr/>
      </p:nvGrpSpPr>
      <p:grpSpPr>
        <a:xfrm>
          <a:off x="0" y="0"/>
          <a:ext cx="0" cy="0"/>
          <a:chOff x="0" y="0"/>
          <a:chExt cx="0" cy="0"/>
        </a:xfrm>
      </p:grpSpPr>
      <p:pic>
        <p:nvPicPr>
          <p:cNvPr id="135" name="Google Shape;135;p8"/>
          <p:cNvPicPr preferRelativeResize="0"/>
          <p:nvPr/>
        </p:nvPicPr>
        <p:blipFill rotWithShape="1">
          <a:blip r:embed="rId3">
            <a:alphaModFix/>
          </a:blip>
          <a:srcRect b="12498" l="0" r="0" t="12500"/>
          <a:stretch/>
        </p:blipFill>
        <p:spPr>
          <a:xfrm>
            <a:off x="0" y="0"/>
            <a:ext cx="12192000" cy="6858000"/>
          </a:xfrm>
          <a:prstGeom prst="rect">
            <a:avLst/>
          </a:prstGeom>
          <a:noFill/>
          <a:ln>
            <a:noFill/>
          </a:ln>
        </p:spPr>
      </p:pic>
      <p:pic>
        <p:nvPicPr>
          <p:cNvPr descr="image.png" id="136" name="Google Shape;136;p8"/>
          <p:cNvPicPr preferRelativeResize="0"/>
          <p:nvPr/>
        </p:nvPicPr>
        <p:blipFill rotWithShape="1">
          <a:blip r:embed="rId4">
            <a:alphaModFix amt="50000"/>
          </a:blip>
          <a:srcRect b="0" l="0" r="0" t="0"/>
          <a:stretch/>
        </p:blipFill>
        <p:spPr>
          <a:xfrm>
            <a:off x="-1" y="0"/>
            <a:ext cx="12192000" cy="6858000"/>
          </a:xfrm>
          <a:prstGeom prst="rect">
            <a:avLst/>
          </a:prstGeom>
          <a:noFill/>
          <a:ln>
            <a:noFill/>
          </a:ln>
        </p:spPr>
      </p:pic>
      <p:sp>
        <p:nvSpPr>
          <p:cNvPr id="137" name="Google Shape;137;p8"/>
          <p:cNvSpPr txBox="1"/>
          <p:nvPr/>
        </p:nvSpPr>
        <p:spPr>
          <a:xfrm>
            <a:off x="-7814" y="2812702"/>
            <a:ext cx="12192000" cy="81253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4800"/>
              <a:buFont typeface="Arial"/>
              <a:buNone/>
            </a:pPr>
            <a:r>
              <a:rPr b="0" i="0" lang="en-US" sz="4800" u="none" cap="none" strike="noStrike">
                <a:solidFill>
                  <a:srgbClr val="FFFFFF"/>
                </a:solidFill>
                <a:latin typeface="Outfit"/>
                <a:ea typeface="Outfit"/>
                <a:cs typeface="Outfit"/>
                <a:sym typeface="Outfit"/>
              </a:rPr>
              <a:t>Digital Twins</a:t>
            </a:r>
            <a:endParaRPr b="0" i="0" sz="1400" u="none" cap="none" strike="noStrike">
              <a:solidFill>
                <a:srgbClr val="000000"/>
              </a:solidFill>
              <a:latin typeface="Arial"/>
              <a:ea typeface="Arial"/>
              <a:cs typeface="Arial"/>
              <a:sym typeface="Arial"/>
            </a:endParaRPr>
          </a:p>
        </p:txBody>
      </p:sp>
      <p:sp>
        <p:nvSpPr>
          <p:cNvPr id="138" name="Google Shape;138;p8"/>
          <p:cNvSpPr txBox="1"/>
          <p:nvPr/>
        </p:nvSpPr>
        <p:spPr>
          <a:xfrm>
            <a:off x="3195637" y="3673673"/>
            <a:ext cx="58008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Inter Light"/>
                <a:ea typeface="Inter Light"/>
                <a:cs typeface="Inter Light"/>
                <a:sym typeface="Inter Light"/>
              </a:rPr>
              <a:t>buildings as data, data as a living model</a:t>
            </a:r>
            <a:endParaRPr b="0" i="0" sz="1100" u="none" cap="none" strike="noStrike">
              <a:solidFill>
                <a:schemeClr val="lt1"/>
              </a:solidFill>
              <a:latin typeface="Arial"/>
              <a:ea typeface="Arial"/>
              <a:cs typeface="Arial"/>
              <a:sym typeface="Arial"/>
            </a:endParaRPr>
          </a:p>
        </p:txBody>
      </p:sp>
      <p:sp>
        <p:nvSpPr>
          <p:cNvPr id="139" name="Google Shape;139;p8"/>
          <p:cNvSpPr txBox="1"/>
          <p:nvPr/>
        </p:nvSpPr>
        <p:spPr>
          <a:xfrm>
            <a:off x="9382371" y="6596390"/>
            <a:ext cx="280181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Inter"/>
                <a:ea typeface="Inter"/>
                <a:cs typeface="Inter"/>
                <a:sym typeface="Inter"/>
              </a:rPr>
              <a:t>Qasr al Hosn, Abu Dhabi</a:t>
            </a:r>
            <a:endParaRPr b="0" i="0" sz="1400" u="none" cap="none" strike="noStrike">
              <a:solidFill>
                <a:srgbClr val="000000"/>
              </a:solidFill>
              <a:latin typeface="Arial"/>
              <a:ea typeface="Arial"/>
              <a:cs typeface="Arial"/>
              <a:sym typeface="Arial"/>
            </a:endParaRPr>
          </a:p>
        </p:txBody>
      </p:sp>
      <p:sp>
        <p:nvSpPr>
          <p:cNvPr id="140" name="Google Shape;140;p8"/>
          <p:cNvSpPr txBox="1"/>
          <p:nvPr/>
        </p:nvSpPr>
        <p:spPr>
          <a:xfrm>
            <a:off x="88388" y="6596390"/>
            <a:ext cx="7505974"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Inter"/>
                <a:ea typeface="Inter"/>
                <a:cs typeface="Inter"/>
                <a:sym typeface="Inter"/>
              </a:rPr>
              <a:t>Stage 3: Spatial Coordination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44" name="Shape 144"/>
        <p:cNvGrpSpPr/>
        <p:nvPr/>
      </p:nvGrpSpPr>
      <p:grpSpPr>
        <a:xfrm>
          <a:off x="0" y="0"/>
          <a:ext cx="0" cy="0"/>
          <a:chOff x="0" y="0"/>
          <a:chExt cx="0" cy="0"/>
        </a:xfrm>
      </p:grpSpPr>
      <p:pic>
        <p:nvPicPr>
          <p:cNvPr id="145" name="Google Shape;145;p9"/>
          <p:cNvPicPr preferRelativeResize="0"/>
          <p:nvPr/>
        </p:nvPicPr>
        <p:blipFill rotWithShape="1">
          <a:blip r:embed="rId3">
            <a:alphaModFix/>
          </a:blip>
          <a:srcRect b="7823" l="0" r="0" t="7824"/>
          <a:stretch/>
        </p:blipFill>
        <p:spPr>
          <a:xfrm>
            <a:off x="0" y="0"/>
            <a:ext cx="12189258" cy="6858000"/>
          </a:xfrm>
          <a:prstGeom prst="rect">
            <a:avLst/>
          </a:prstGeom>
          <a:noFill/>
          <a:ln>
            <a:noFill/>
          </a:ln>
        </p:spPr>
      </p:pic>
      <p:pic>
        <p:nvPicPr>
          <p:cNvPr descr="image.png" id="146" name="Google Shape;146;p9"/>
          <p:cNvPicPr preferRelativeResize="0"/>
          <p:nvPr/>
        </p:nvPicPr>
        <p:blipFill rotWithShape="1">
          <a:blip r:embed="rId4">
            <a:alphaModFix amt="50000"/>
          </a:blip>
          <a:srcRect b="0" l="0" r="0" t="0"/>
          <a:stretch/>
        </p:blipFill>
        <p:spPr>
          <a:xfrm>
            <a:off x="7814" y="0"/>
            <a:ext cx="12192000" cy="6858000"/>
          </a:xfrm>
          <a:prstGeom prst="rect">
            <a:avLst/>
          </a:prstGeom>
          <a:noFill/>
          <a:ln>
            <a:noFill/>
          </a:ln>
        </p:spPr>
      </p:pic>
      <p:sp>
        <p:nvSpPr>
          <p:cNvPr id="147" name="Google Shape;147;p9"/>
          <p:cNvSpPr txBox="1"/>
          <p:nvPr/>
        </p:nvSpPr>
        <p:spPr>
          <a:xfrm>
            <a:off x="-10556" y="2812702"/>
            <a:ext cx="12199813" cy="81253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4800"/>
              <a:buFont typeface="Arial"/>
              <a:buNone/>
            </a:pPr>
            <a:r>
              <a:rPr b="0" i="0" lang="en-US" sz="4800" u="none" cap="none" strike="noStrike">
                <a:solidFill>
                  <a:srgbClr val="FFFFFF"/>
                </a:solidFill>
                <a:latin typeface="Outfit"/>
                <a:ea typeface="Outfit"/>
                <a:cs typeface="Outfit"/>
                <a:sym typeface="Outfit"/>
              </a:rPr>
              <a:t>Precise Blueprints</a:t>
            </a:r>
            <a:endParaRPr b="0" i="0" sz="1400" u="none" cap="none" strike="noStrike">
              <a:solidFill>
                <a:srgbClr val="000000"/>
              </a:solidFill>
              <a:latin typeface="Arial"/>
              <a:ea typeface="Arial"/>
              <a:cs typeface="Arial"/>
              <a:sym typeface="Arial"/>
            </a:endParaRPr>
          </a:p>
        </p:txBody>
      </p:sp>
      <p:sp>
        <p:nvSpPr>
          <p:cNvPr id="148" name="Google Shape;148;p9"/>
          <p:cNvSpPr txBox="1"/>
          <p:nvPr/>
        </p:nvSpPr>
        <p:spPr>
          <a:xfrm>
            <a:off x="2295525" y="3673673"/>
            <a:ext cx="76011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Inter Light"/>
                <a:ea typeface="Inter Light"/>
                <a:cs typeface="Inter Light"/>
                <a:sym typeface="Inter Light"/>
              </a:rPr>
              <a:t>coordinating high-stakes flow and digital movement</a:t>
            </a:r>
            <a:endParaRPr b="0" i="0" sz="1100" u="none" cap="none" strike="noStrike">
              <a:solidFill>
                <a:schemeClr val="lt1"/>
              </a:solidFill>
              <a:latin typeface="Arial"/>
              <a:ea typeface="Arial"/>
              <a:cs typeface="Arial"/>
              <a:sym typeface="Arial"/>
            </a:endParaRPr>
          </a:p>
        </p:txBody>
      </p:sp>
      <p:sp>
        <p:nvSpPr>
          <p:cNvPr id="149" name="Google Shape;149;p9"/>
          <p:cNvSpPr txBox="1"/>
          <p:nvPr/>
        </p:nvSpPr>
        <p:spPr>
          <a:xfrm>
            <a:off x="9382371" y="6596390"/>
            <a:ext cx="280181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Inter"/>
                <a:ea typeface="Inter"/>
                <a:cs typeface="Inter"/>
                <a:sym typeface="Inter"/>
              </a:rPr>
              <a:t>Schiphol Pier A, Netherlands</a:t>
            </a:r>
            <a:endParaRPr b="0" i="0" sz="1400" u="none" cap="none" strike="noStrike">
              <a:solidFill>
                <a:srgbClr val="000000"/>
              </a:solidFill>
              <a:latin typeface="Arial"/>
              <a:ea typeface="Arial"/>
              <a:cs typeface="Arial"/>
              <a:sym typeface="Arial"/>
            </a:endParaRPr>
          </a:p>
        </p:txBody>
      </p:sp>
      <p:sp>
        <p:nvSpPr>
          <p:cNvPr id="150" name="Google Shape;150;p9"/>
          <p:cNvSpPr txBox="1"/>
          <p:nvPr/>
        </p:nvSpPr>
        <p:spPr>
          <a:xfrm>
            <a:off x="88388" y="6596390"/>
            <a:ext cx="7505974"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Inter"/>
                <a:ea typeface="Inter"/>
                <a:cs typeface="Inter"/>
                <a:sym typeface="Inter"/>
              </a:rPr>
              <a:t>Stage 4: Technical Design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54" name="Shape 154"/>
        <p:cNvGrpSpPr/>
        <p:nvPr/>
      </p:nvGrpSpPr>
      <p:grpSpPr>
        <a:xfrm>
          <a:off x="0" y="0"/>
          <a:ext cx="0" cy="0"/>
          <a:chOff x="0" y="0"/>
          <a:chExt cx="0" cy="0"/>
        </a:xfrm>
      </p:grpSpPr>
      <p:pic>
        <p:nvPicPr>
          <p:cNvPr id="155" name="Google Shape;155;p10"/>
          <p:cNvPicPr preferRelativeResize="0"/>
          <p:nvPr/>
        </p:nvPicPr>
        <p:blipFill rotWithShape="1">
          <a:blip r:embed="rId3">
            <a:alphaModFix/>
          </a:blip>
          <a:srcRect b="0" l="0" r="0" t="0"/>
          <a:stretch/>
        </p:blipFill>
        <p:spPr>
          <a:xfrm>
            <a:off x="147735" y="0"/>
            <a:ext cx="11896530" cy="6858000"/>
          </a:xfrm>
          <a:prstGeom prst="rect">
            <a:avLst/>
          </a:prstGeom>
          <a:noFill/>
          <a:ln>
            <a:noFill/>
          </a:ln>
        </p:spPr>
      </p:pic>
      <p:pic>
        <p:nvPicPr>
          <p:cNvPr descr="image.png" id="156" name="Google Shape;156;p10"/>
          <p:cNvPicPr preferRelativeResize="0"/>
          <p:nvPr/>
        </p:nvPicPr>
        <p:blipFill rotWithShape="1">
          <a:blip r:embed="rId4">
            <a:alphaModFix amt="50000"/>
          </a:blip>
          <a:srcRect b="0" l="0" r="0" t="0"/>
          <a:stretch/>
        </p:blipFill>
        <p:spPr>
          <a:xfrm>
            <a:off x="-50" y="0"/>
            <a:ext cx="12192000" cy="6858000"/>
          </a:xfrm>
          <a:prstGeom prst="rect">
            <a:avLst/>
          </a:prstGeom>
          <a:noFill/>
          <a:ln>
            <a:noFill/>
          </a:ln>
        </p:spPr>
      </p:pic>
      <p:sp>
        <p:nvSpPr>
          <p:cNvPr id="157" name="Google Shape;157;p10"/>
          <p:cNvSpPr txBox="1"/>
          <p:nvPr/>
        </p:nvSpPr>
        <p:spPr>
          <a:xfrm>
            <a:off x="0" y="2812702"/>
            <a:ext cx="12191949" cy="81253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4800"/>
              <a:buFont typeface="Arial"/>
              <a:buNone/>
            </a:pPr>
            <a:r>
              <a:rPr b="0" i="0" lang="en-US" sz="4800" u="none" cap="none" strike="noStrike">
                <a:solidFill>
                  <a:srgbClr val="FFFFFF"/>
                </a:solidFill>
                <a:latin typeface="Outfit"/>
                <a:ea typeface="Outfit"/>
                <a:cs typeface="Outfit"/>
                <a:sym typeface="Outfit"/>
              </a:rPr>
              <a:t>Supply Chain of Truth</a:t>
            </a:r>
            <a:endParaRPr b="0" i="0" sz="1400" u="none" cap="none" strike="noStrike">
              <a:solidFill>
                <a:srgbClr val="000000"/>
              </a:solidFill>
              <a:latin typeface="Arial"/>
              <a:ea typeface="Arial"/>
              <a:cs typeface="Arial"/>
              <a:sym typeface="Arial"/>
            </a:endParaRPr>
          </a:p>
        </p:txBody>
      </p:sp>
      <p:sp>
        <p:nvSpPr>
          <p:cNvPr id="158" name="Google Shape;158;p10"/>
          <p:cNvSpPr txBox="1"/>
          <p:nvPr/>
        </p:nvSpPr>
        <p:spPr>
          <a:xfrm>
            <a:off x="2733675" y="3673673"/>
            <a:ext cx="67248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Inter Light"/>
                <a:ea typeface="Inter Light"/>
                <a:cs typeface="Inter Light"/>
                <a:sym typeface="Inter Light"/>
              </a:rPr>
              <a:t>DfMA: prefabricated units built from pure data</a:t>
            </a:r>
            <a:endParaRPr b="0" i="0" sz="1100" u="none" cap="none" strike="noStrike">
              <a:solidFill>
                <a:schemeClr val="lt1"/>
              </a:solidFill>
              <a:latin typeface="Arial"/>
              <a:ea typeface="Arial"/>
              <a:cs typeface="Arial"/>
              <a:sym typeface="Arial"/>
            </a:endParaRPr>
          </a:p>
        </p:txBody>
      </p:sp>
      <p:sp>
        <p:nvSpPr>
          <p:cNvPr id="159" name="Google Shape;159;p10"/>
          <p:cNvSpPr txBox="1"/>
          <p:nvPr/>
        </p:nvSpPr>
        <p:spPr>
          <a:xfrm>
            <a:off x="9382371" y="6596390"/>
            <a:ext cx="2801815" cy="25391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Inter"/>
                <a:ea typeface="Inter"/>
                <a:cs typeface="Inter"/>
                <a:sym typeface="Inter"/>
              </a:rPr>
              <a:t>Shell Modular DfMA Stations, Europe</a:t>
            </a:r>
            <a:endParaRPr b="0" i="0" sz="1400" u="none" cap="none" strike="noStrike">
              <a:solidFill>
                <a:srgbClr val="000000"/>
              </a:solidFill>
              <a:latin typeface="Arial"/>
              <a:ea typeface="Arial"/>
              <a:cs typeface="Arial"/>
              <a:sym typeface="Arial"/>
            </a:endParaRPr>
          </a:p>
        </p:txBody>
      </p:sp>
      <p:sp>
        <p:nvSpPr>
          <p:cNvPr id="160" name="Google Shape;160;p10"/>
          <p:cNvSpPr txBox="1"/>
          <p:nvPr/>
        </p:nvSpPr>
        <p:spPr>
          <a:xfrm>
            <a:off x="88388" y="6596390"/>
            <a:ext cx="7505974"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Inter"/>
                <a:ea typeface="Inter"/>
                <a:cs typeface="Inter"/>
                <a:sym typeface="Inter"/>
              </a:rPr>
              <a:t>Stage 5: Manufacturing and Construction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64" name="Shape 164"/>
        <p:cNvGrpSpPr/>
        <p:nvPr/>
      </p:nvGrpSpPr>
      <p:grpSpPr>
        <a:xfrm>
          <a:off x="0" y="0"/>
          <a:ext cx="0" cy="0"/>
          <a:chOff x="0" y="0"/>
          <a:chExt cx="0" cy="0"/>
        </a:xfrm>
      </p:grpSpPr>
      <p:pic>
        <p:nvPicPr>
          <p:cNvPr id="165" name="Google Shape;165;p11"/>
          <p:cNvPicPr preferRelativeResize="0"/>
          <p:nvPr/>
        </p:nvPicPr>
        <p:blipFill rotWithShape="1">
          <a:blip r:embed="rId3">
            <a:alphaModFix/>
          </a:blip>
          <a:srcRect b="0" l="0" r="0" t="0"/>
          <a:stretch/>
        </p:blipFill>
        <p:spPr>
          <a:xfrm>
            <a:off x="2708" y="0"/>
            <a:ext cx="12186583" cy="6858000"/>
          </a:xfrm>
          <a:prstGeom prst="rect">
            <a:avLst/>
          </a:prstGeom>
          <a:noFill/>
          <a:ln>
            <a:noFill/>
          </a:ln>
        </p:spPr>
      </p:pic>
      <p:pic>
        <p:nvPicPr>
          <p:cNvPr descr="image.png" id="166" name="Google Shape;166;p11"/>
          <p:cNvPicPr preferRelativeResize="0"/>
          <p:nvPr/>
        </p:nvPicPr>
        <p:blipFill rotWithShape="1">
          <a:blip r:embed="rId4">
            <a:alphaModFix amt="50000"/>
          </a:blip>
          <a:srcRect b="0" l="0" r="0" t="0"/>
          <a:stretch/>
        </p:blipFill>
        <p:spPr>
          <a:xfrm>
            <a:off x="-2709" y="0"/>
            <a:ext cx="12192000" cy="6858000"/>
          </a:xfrm>
          <a:prstGeom prst="rect">
            <a:avLst/>
          </a:prstGeom>
          <a:noFill/>
          <a:ln>
            <a:noFill/>
          </a:ln>
        </p:spPr>
      </p:pic>
      <p:sp>
        <p:nvSpPr>
          <p:cNvPr id="167" name="Google Shape;167;p11"/>
          <p:cNvSpPr txBox="1"/>
          <p:nvPr/>
        </p:nvSpPr>
        <p:spPr>
          <a:xfrm>
            <a:off x="0" y="2812702"/>
            <a:ext cx="12184186" cy="81253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4800"/>
              <a:buFont typeface="Arial"/>
              <a:buNone/>
            </a:pPr>
            <a:r>
              <a:rPr b="0" i="0" lang="en-US" sz="4800" u="none" cap="none" strike="noStrike">
                <a:solidFill>
                  <a:srgbClr val="FFFFFF"/>
                </a:solidFill>
                <a:latin typeface="Outfit"/>
                <a:ea typeface="Outfit"/>
                <a:cs typeface="Outfit"/>
                <a:sym typeface="Outfit"/>
              </a:rPr>
              <a:t>Operational Readiness</a:t>
            </a:r>
            <a:endParaRPr b="0" i="0" sz="1400" u="none" cap="none" strike="noStrike">
              <a:solidFill>
                <a:srgbClr val="000000"/>
              </a:solidFill>
              <a:latin typeface="Arial"/>
              <a:ea typeface="Arial"/>
              <a:cs typeface="Arial"/>
              <a:sym typeface="Arial"/>
            </a:endParaRPr>
          </a:p>
        </p:txBody>
      </p:sp>
      <p:sp>
        <p:nvSpPr>
          <p:cNvPr id="168" name="Google Shape;168;p11"/>
          <p:cNvSpPr txBox="1"/>
          <p:nvPr/>
        </p:nvSpPr>
        <p:spPr>
          <a:xfrm>
            <a:off x="2733675" y="3673673"/>
            <a:ext cx="67248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Inter Light"/>
                <a:ea typeface="Inter Light"/>
                <a:cs typeface="Inter Light"/>
                <a:sym typeface="Inter Light"/>
              </a:rPr>
              <a:t>hand over a living asset, not just a building</a:t>
            </a:r>
            <a:endParaRPr b="0" i="0" sz="1100" u="none" cap="none" strike="noStrike">
              <a:solidFill>
                <a:schemeClr val="lt1"/>
              </a:solidFill>
              <a:latin typeface="Arial"/>
              <a:ea typeface="Arial"/>
              <a:cs typeface="Arial"/>
              <a:sym typeface="Arial"/>
            </a:endParaRPr>
          </a:p>
        </p:txBody>
      </p:sp>
      <p:sp>
        <p:nvSpPr>
          <p:cNvPr id="169" name="Google Shape;169;p11"/>
          <p:cNvSpPr txBox="1"/>
          <p:nvPr/>
        </p:nvSpPr>
        <p:spPr>
          <a:xfrm>
            <a:off x="9382371" y="6596390"/>
            <a:ext cx="280181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Inter"/>
                <a:ea typeface="Inter"/>
                <a:cs typeface="Inter"/>
                <a:sym typeface="Inter"/>
              </a:rPr>
              <a:t>Istanbul New ATC</a:t>
            </a:r>
            <a:endParaRPr b="0" i="0" sz="1400" u="none" cap="none" strike="noStrike">
              <a:solidFill>
                <a:srgbClr val="000000"/>
              </a:solidFill>
              <a:latin typeface="Arial"/>
              <a:ea typeface="Arial"/>
              <a:cs typeface="Arial"/>
              <a:sym typeface="Arial"/>
            </a:endParaRPr>
          </a:p>
        </p:txBody>
      </p:sp>
      <p:sp>
        <p:nvSpPr>
          <p:cNvPr id="170" name="Google Shape;170;p11"/>
          <p:cNvSpPr txBox="1"/>
          <p:nvPr/>
        </p:nvSpPr>
        <p:spPr>
          <a:xfrm>
            <a:off x="88388" y="6596390"/>
            <a:ext cx="7505974"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Inter"/>
                <a:ea typeface="Inter"/>
                <a:cs typeface="Inter"/>
                <a:sym typeface="Inter"/>
              </a:rPr>
              <a:t>Stage 6: Handover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74" name="Shape 174"/>
        <p:cNvGrpSpPr/>
        <p:nvPr/>
      </p:nvGrpSpPr>
      <p:grpSpPr>
        <a:xfrm>
          <a:off x="0" y="0"/>
          <a:ext cx="0" cy="0"/>
          <a:chOff x="0" y="0"/>
          <a:chExt cx="0" cy="0"/>
        </a:xfrm>
      </p:grpSpPr>
      <p:pic>
        <p:nvPicPr>
          <p:cNvPr id="175" name="Google Shape;175;p12"/>
          <p:cNvPicPr preferRelativeResize="0"/>
          <p:nvPr/>
        </p:nvPicPr>
        <p:blipFill rotWithShape="1">
          <a:blip r:embed="rId3">
            <a:alphaModFix/>
          </a:blip>
          <a:srcRect b="15542" l="0" r="0" t="0"/>
          <a:stretch/>
        </p:blipFill>
        <p:spPr>
          <a:xfrm>
            <a:off x="-1" y="1"/>
            <a:ext cx="12192000" cy="6858000"/>
          </a:xfrm>
          <a:prstGeom prst="rect">
            <a:avLst/>
          </a:prstGeom>
          <a:noFill/>
          <a:ln>
            <a:noFill/>
          </a:ln>
        </p:spPr>
      </p:pic>
      <p:pic>
        <p:nvPicPr>
          <p:cNvPr descr="image.png" id="176" name="Google Shape;176;p12"/>
          <p:cNvPicPr preferRelativeResize="0"/>
          <p:nvPr/>
        </p:nvPicPr>
        <p:blipFill rotWithShape="1">
          <a:blip r:embed="rId4">
            <a:alphaModFix amt="50000"/>
          </a:blip>
          <a:srcRect b="0" l="0" r="0" t="0"/>
          <a:stretch/>
        </p:blipFill>
        <p:spPr>
          <a:xfrm>
            <a:off x="-1" y="0"/>
            <a:ext cx="12192000" cy="6858000"/>
          </a:xfrm>
          <a:prstGeom prst="rect">
            <a:avLst/>
          </a:prstGeom>
          <a:noFill/>
          <a:ln>
            <a:noFill/>
          </a:ln>
        </p:spPr>
      </p:pic>
      <p:sp>
        <p:nvSpPr>
          <p:cNvPr id="177" name="Google Shape;177;p12"/>
          <p:cNvSpPr txBox="1"/>
          <p:nvPr/>
        </p:nvSpPr>
        <p:spPr>
          <a:xfrm>
            <a:off x="-1" y="2812702"/>
            <a:ext cx="12192000" cy="7389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4800"/>
              <a:buFont typeface="Arial"/>
              <a:buNone/>
            </a:pPr>
            <a:r>
              <a:rPr b="0" i="0" lang="en-US" sz="4800" u="none" cap="none" strike="noStrike">
                <a:solidFill>
                  <a:srgbClr val="FFFFFF"/>
                </a:solidFill>
                <a:latin typeface="Outfit"/>
                <a:ea typeface="Outfit"/>
                <a:cs typeface="Outfit"/>
                <a:sym typeface="Outfit"/>
              </a:rPr>
              <a:t>Living Ecosystem</a:t>
            </a:r>
            <a:endParaRPr b="0" i="0" sz="1400" u="none" cap="none" strike="noStrike">
              <a:solidFill>
                <a:srgbClr val="000000"/>
              </a:solidFill>
              <a:latin typeface="Arial"/>
              <a:ea typeface="Arial"/>
              <a:cs typeface="Arial"/>
              <a:sym typeface="Arial"/>
            </a:endParaRPr>
          </a:p>
        </p:txBody>
      </p:sp>
      <p:sp>
        <p:nvSpPr>
          <p:cNvPr id="178" name="Google Shape;178;p12"/>
          <p:cNvSpPr txBox="1"/>
          <p:nvPr/>
        </p:nvSpPr>
        <p:spPr>
          <a:xfrm>
            <a:off x="2486025" y="3673673"/>
            <a:ext cx="72201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Inter Light"/>
                <a:ea typeface="Inter Light"/>
                <a:cs typeface="Inter Light"/>
                <a:sym typeface="Inter Light"/>
              </a:rPr>
              <a:t>performance, resilience and the human outcome</a:t>
            </a:r>
            <a:endParaRPr b="0" i="0" sz="1100" u="none" cap="none" strike="noStrike">
              <a:solidFill>
                <a:schemeClr val="lt1"/>
              </a:solidFill>
              <a:latin typeface="Arial"/>
              <a:ea typeface="Arial"/>
              <a:cs typeface="Arial"/>
              <a:sym typeface="Arial"/>
            </a:endParaRPr>
          </a:p>
        </p:txBody>
      </p:sp>
      <p:sp>
        <p:nvSpPr>
          <p:cNvPr id="179" name="Google Shape;179;p12"/>
          <p:cNvSpPr txBox="1"/>
          <p:nvPr/>
        </p:nvSpPr>
        <p:spPr>
          <a:xfrm>
            <a:off x="9382371" y="6596390"/>
            <a:ext cx="280181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Inter"/>
                <a:ea typeface="Inter"/>
                <a:cs typeface="Inter"/>
                <a:sym typeface="Inter"/>
              </a:rPr>
              <a:t>Laguna Honda Hospital, San Francisco</a:t>
            </a:r>
            <a:endParaRPr b="0" i="0" sz="1400" u="none" cap="none" strike="noStrike">
              <a:solidFill>
                <a:srgbClr val="000000"/>
              </a:solidFill>
              <a:latin typeface="Arial"/>
              <a:ea typeface="Arial"/>
              <a:cs typeface="Arial"/>
              <a:sym typeface="Arial"/>
            </a:endParaRPr>
          </a:p>
        </p:txBody>
      </p:sp>
      <p:sp>
        <p:nvSpPr>
          <p:cNvPr id="180" name="Google Shape;180;p12"/>
          <p:cNvSpPr txBox="1"/>
          <p:nvPr/>
        </p:nvSpPr>
        <p:spPr>
          <a:xfrm>
            <a:off x="88388" y="6596390"/>
            <a:ext cx="7505974" cy="2154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Inter"/>
                <a:ea typeface="Inter"/>
                <a:cs typeface="Inter"/>
                <a:sym typeface="Inter"/>
              </a:rPr>
              <a:t>Stage 7: In Use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4" name="Shape 184"/>
        <p:cNvGrpSpPr/>
        <p:nvPr/>
      </p:nvGrpSpPr>
      <p:grpSpPr>
        <a:xfrm>
          <a:off x="0" y="0"/>
          <a:ext cx="0" cy="0"/>
          <a:chOff x="0" y="0"/>
          <a:chExt cx="0" cy="0"/>
        </a:xfrm>
      </p:grpSpPr>
      <p:sp>
        <p:nvSpPr>
          <p:cNvPr id="185" name="Google Shape;185;g3c77d4c9392_0_1"/>
          <p:cNvSpPr txBox="1"/>
          <p:nvPr/>
        </p:nvSpPr>
        <p:spPr>
          <a:xfrm>
            <a:off x="-11" y="2812702"/>
            <a:ext cx="12184200" cy="7389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4800"/>
              <a:buFont typeface="Arial"/>
              <a:buNone/>
            </a:pPr>
            <a:r>
              <a:rPr lang="en-US" sz="4800">
                <a:solidFill>
                  <a:srgbClr val="FFFFFF"/>
                </a:solidFill>
                <a:latin typeface="Outfit"/>
                <a:ea typeface="Outfit"/>
                <a:cs typeface="Outfit"/>
                <a:sym typeface="Outfit"/>
              </a:rPr>
              <a:t>Thank you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A0A0A"/>
        </a:solidFill>
      </p:bgPr>
    </p:bg>
    <p:spTree>
      <p:nvGrpSpPr>
        <p:cNvPr id="189" name="Shape 189"/>
        <p:cNvGrpSpPr/>
        <p:nvPr/>
      </p:nvGrpSpPr>
      <p:grpSpPr>
        <a:xfrm>
          <a:off x="0" y="0"/>
          <a:ext cx="0" cy="0"/>
          <a:chOff x="0" y="0"/>
          <a:chExt cx="0" cy="0"/>
        </a:xfrm>
      </p:grpSpPr>
      <p:pic>
        <p:nvPicPr>
          <p:cNvPr id="190" name="Google Shape;190;g3b5bb15188f_0_30" title="Image 1-9-26 at 15.16.png"/>
          <p:cNvPicPr preferRelativeResize="0"/>
          <p:nvPr/>
        </p:nvPicPr>
        <p:blipFill rotWithShape="1">
          <a:blip r:embed="rId3">
            <a:alphaModFix/>
          </a:blip>
          <a:srcRect b="12041" l="0" r="0" t="0"/>
          <a:stretch/>
        </p:blipFill>
        <p:spPr>
          <a:xfrm>
            <a:off x="0" y="0"/>
            <a:ext cx="12192000" cy="6995577"/>
          </a:xfrm>
          <a:prstGeom prst="rect">
            <a:avLst/>
          </a:prstGeom>
          <a:noFill/>
          <a:ln>
            <a:noFill/>
          </a:ln>
        </p:spPr>
      </p:pic>
      <p:pic>
        <p:nvPicPr>
          <p:cNvPr descr="image.png" id="191" name="Google Shape;191;g3b5bb15188f_0_30"/>
          <p:cNvPicPr preferRelativeResize="0"/>
          <p:nvPr/>
        </p:nvPicPr>
        <p:blipFill rotWithShape="1">
          <a:blip r:embed="rId4">
            <a:alphaModFix amt="50000"/>
          </a:blip>
          <a:srcRect b="0" l="0" r="0" t="0"/>
          <a:stretch/>
        </p:blipFill>
        <p:spPr>
          <a:xfrm>
            <a:off x="-8050" y="0"/>
            <a:ext cx="12192000" cy="6995576"/>
          </a:xfrm>
          <a:prstGeom prst="rect">
            <a:avLst/>
          </a:prstGeom>
          <a:noFill/>
          <a:ln>
            <a:noFill/>
          </a:ln>
        </p:spPr>
      </p:pic>
      <p:sp>
        <p:nvSpPr>
          <p:cNvPr id="192" name="Google Shape;192;g3b5bb15188f_0_30"/>
          <p:cNvSpPr txBox="1"/>
          <p:nvPr/>
        </p:nvSpPr>
        <p:spPr>
          <a:xfrm>
            <a:off x="-8050" y="2812700"/>
            <a:ext cx="12192000" cy="7389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4800"/>
              <a:buFont typeface="Arial"/>
              <a:buNone/>
            </a:pPr>
            <a:r>
              <a:rPr b="0" i="0" lang="en-US" sz="4800" u="none" cap="none" strike="noStrike">
                <a:solidFill>
                  <a:srgbClr val="FFFFFF"/>
                </a:solidFill>
                <a:latin typeface="Outfit"/>
                <a:ea typeface="Outfit"/>
                <a:cs typeface="Outfit"/>
                <a:sym typeface="Outfit"/>
              </a:rPr>
              <a:t>Furniture v Foundation</a:t>
            </a:r>
            <a:endParaRPr b="0" i="0" sz="1400" u="none" cap="none" strike="noStrike">
              <a:solidFill>
                <a:srgbClr val="000000"/>
              </a:solidFill>
              <a:latin typeface="Arial"/>
              <a:ea typeface="Arial"/>
              <a:cs typeface="Arial"/>
              <a:sym typeface="Arial"/>
            </a:endParaRPr>
          </a:p>
        </p:txBody>
      </p:sp>
      <p:sp>
        <p:nvSpPr>
          <p:cNvPr id="193" name="Google Shape;193;g3b5bb15188f_0_30"/>
          <p:cNvSpPr txBox="1"/>
          <p:nvPr/>
        </p:nvSpPr>
        <p:spPr>
          <a:xfrm>
            <a:off x="3071812" y="3673673"/>
            <a:ext cx="60483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Inter Light"/>
                <a:ea typeface="Inter Light"/>
                <a:cs typeface="Inter Light"/>
                <a:sym typeface="Inter Light"/>
              </a:rPr>
              <a:t>data as load bearing</a:t>
            </a:r>
            <a:endParaRPr b="0" i="0" sz="1100" u="none" cap="none" strike="noStrike">
              <a:solidFill>
                <a:schemeClr val="lt1"/>
              </a:solidFill>
              <a:latin typeface="Arial"/>
              <a:ea typeface="Arial"/>
              <a:cs typeface="Arial"/>
              <a:sym typeface="Arial"/>
            </a:endParaRPr>
          </a:p>
        </p:txBody>
      </p:sp>
      <p:sp>
        <p:nvSpPr>
          <p:cNvPr id="194" name="Google Shape;194;g3b5bb15188f_0_30"/>
          <p:cNvSpPr txBox="1"/>
          <p:nvPr/>
        </p:nvSpPr>
        <p:spPr>
          <a:xfrm>
            <a:off x="9408829" y="6596390"/>
            <a:ext cx="2801700" cy="253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Inter"/>
                <a:ea typeface="Inter"/>
                <a:cs typeface="Inter"/>
                <a:sym typeface="Inter"/>
              </a:rPr>
              <a:t>Private Residence, Guildford, England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A0A0A"/>
        </a:solidFill>
      </p:bgPr>
    </p:bg>
    <p:spTree>
      <p:nvGrpSpPr>
        <p:cNvPr id="198" name="Shape 198"/>
        <p:cNvGrpSpPr/>
        <p:nvPr/>
      </p:nvGrpSpPr>
      <p:grpSpPr>
        <a:xfrm>
          <a:off x="0" y="0"/>
          <a:ext cx="0" cy="0"/>
          <a:chOff x="0" y="0"/>
          <a:chExt cx="0" cy="0"/>
        </a:xfrm>
      </p:grpSpPr>
      <p:pic>
        <p:nvPicPr>
          <p:cNvPr descr="A map of a city&#10;&#10;AI-generated content may be incorrect." id="199" name="Google Shape;199;p7"/>
          <p:cNvPicPr preferRelativeResize="0"/>
          <p:nvPr/>
        </p:nvPicPr>
        <p:blipFill rotWithShape="1">
          <a:blip r:embed="rId3">
            <a:alphaModFix/>
          </a:blip>
          <a:srcRect b="18086" l="0" r="0" t="14294"/>
          <a:stretch/>
        </p:blipFill>
        <p:spPr>
          <a:xfrm>
            <a:off x="0" y="0"/>
            <a:ext cx="12192000" cy="6858000"/>
          </a:xfrm>
          <a:prstGeom prst="rect">
            <a:avLst/>
          </a:prstGeom>
          <a:noFill/>
          <a:ln>
            <a:noFill/>
          </a:ln>
        </p:spPr>
      </p:pic>
      <p:pic>
        <p:nvPicPr>
          <p:cNvPr descr="image.png" id="200" name="Google Shape;200;p7"/>
          <p:cNvPicPr preferRelativeResize="0"/>
          <p:nvPr/>
        </p:nvPicPr>
        <p:blipFill rotWithShape="1">
          <a:blip r:embed="rId4">
            <a:alphaModFix amt="50000"/>
          </a:blip>
          <a:srcRect b="0" l="0" r="0" t="0"/>
          <a:stretch/>
        </p:blipFill>
        <p:spPr>
          <a:xfrm>
            <a:off x="0" y="0"/>
            <a:ext cx="12192000" cy="6858000"/>
          </a:xfrm>
          <a:prstGeom prst="rect">
            <a:avLst/>
          </a:prstGeom>
          <a:noFill/>
          <a:ln>
            <a:noFill/>
          </a:ln>
        </p:spPr>
      </p:pic>
      <p:sp>
        <p:nvSpPr>
          <p:cNvPr id="201" name="Google Shape;201;p7"/>
          <p:cNvSpPr txBox="1"/>
          <p:nvPr/>
        </p:nvSpPr>
        <p:spPr>
          <a:xfrm>
            <a:off x="0" y="2626965"/>
            <a:ext cx="12192000" cy="81253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4800"/>
              <a:buFont typeface="Arial"/>
              <a:buNone/>
            </a:pPr>
            <a:r>
              <a:rPr b="0" i="0" lang="en-US" sz="4800" u="none" cap="none" strike="noStrike">
                <a:solidFill>
                  <a:srgbClr val="FFFFFF"/>
                </a:solidFill>
                <a:latin typeface="Outfit"/>
                <a:ea typeface="Outfit"/>
                <a:cs typeface="Outfit"/>
                <a:sym typeface="Outfit"/>
              </a:rPr>
              <a:t>The Wayfinding Gap</a:t>
            </a:r>
            <a:endParaRPr b="0" i="0" sz="1400" u="none" cap="none" strike="noStrike">
              <a:solidFill>
                <a:srgbClr val="000000"/>
              </a:solidFill>
              <a:latin typeface="Arial"/>
              <a:ea typeface="Arial"/>
              <a:cs typeface="Arial"/>
              <a:sym typeface="Arial"/>
            </a:endParaRPr>
          </a:p>
        </p:txBody>
      </p:sp>
      <p:sp>
        <p:nvSpPr>
          <p:cNvPr id="202" name="Google Shape;202;p7"/>
          <p:cNvSpPr txBox="1"/>
          <p:nvPr/>
        </p:nvSpPr>
        <p:spPr>
          <a:xfrm>
            <a:off x="1809750" y="3487935"/>
            <a:ext cx="85725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Inter Light"/>
                <a:ea typeface="Inter Light"/>
                <a:cs typeface="Inter Light"/>
                <a:sym typeface="Inter Light"/>
              </a:rPr>
              <a:t>role of the RIBA Client Advisor</a:t>
            </a:r>
            <a:endParaRPr b="0" i="0" sz="1100" u="none" cap="none" strike="noStrike">
              <a:solidFill>
                <a:schemeClr val="lt1"/>
              </a:solidFill>
              <a:latin typeface="Arial"/>
              <a:ea typeface="Arial"/>
              <a:cs typeface="Arial"/>
              <a:sym typeface="Arial"/>
            </a:endParaRPr>
          </a:p>
        </p:txBody>
      </p:sp>
      <p:sp>
        <p:nvSpPr>
          <p:cNvPr id="203" name="Google Shape;203;p7"/>
          <p:cNvSpPr txBox="1"/>
          <p:nvPr/>
        </p:nvSpPr>
        <p:spPr>
          <a:xfrm>
            <a:off x="9382371" y="6596390"/>
            <a:ext cx="2801815" cy="26161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Inter"/>
                <a:ea typeface="Inter"/>
                <a:cs typeface="Inter"/>
                <a:sym typeface="Inter"/>
              </a:rPr>
              <a:t>Frenson Estate, Liverpool, England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A0A0A"/>
        </a:solidFill>
      </p:bgPr>
    </p:bg>
    <p:spTree>
      <p:nvGrpSpPr>
        <p:cNvPr id="207" name="Shape 207"/>
        <p:cNvGrpSpPr/>
        <p:nvPr/>
      </p:nvGrpSpPr>
      <p:grpSpPr>
        <a:xfrm>
          <a:off x="0" y="0"/>
          <a:ext cx="0" cy="0"/>
          <a:chOff x="0" y="0"/>
          <a:chExt cx="0" cy="0"/>
        </a:xfrm>
      </p:grpSpPr>
      <p:pic>
        <p:nvPicPr>
          <p:cNvPr id="208" name="Google Shape;208;p13" title="Image.jpeg"/>
          <p:cNvPicPr preferRelativeResize="0"/>
          <p:nvPr/>
        </p:nvPicPr>
        <p:blipFill rotWithShape="1">
          <a:blip r:embed="rId3">
            <a:alphaModFix/>
          </a:blip>
          <a:srcRect b="7833" l="0" r="0" t="7834"/>
          <a:stretch/>
        </p:blipFill>
        <p:spPr>
          <a:xfrm>
            <a:off x="0" y="0"/>
            <a:ext cx="12192000" cy="6858000"/>
          </a:xfrm>
          <a:prstGeom prst="rect">
            <a:avLst/>
          </a:prstGeom>
          <a:noFill/>
          <a:ln>
            <a:noFill/>
          </a:ln>
        </p:spPr>
      </p:pic>
      <p:pic>
        <p:nvPicPr>
          <p:cNvPr descr="image.png" id="209" name="Google Shape;209;p13"/>
          <p:cNvPicPr preferRelativeResize="0"/>
          <p:nvPr/>
        </p:nvPicPr>
        <p:blipFill rotWithShape="1">
          <a:blip r:embed="rId4">
            <a:alphaModFix amt="50000"/>
          </a:blip>
          <a:srcRect b="0" l="0" r="0" t="0"/>
          <a:stretch/>
        </p:blipFill>
        <p:spPr>
          <a:xfrm>
            <a:off x="11" y="0"/>
            <a:ext cx="12192000" cy="6858000"/>
          </a:xfrm>
          <a:prstGeom prst="rect">
            <a:avLst/>
          </a:prstGeom>
          <a:noFill/>
          <a:ln>
            <a:noFill/>
          </a:ln>
        </p:spPr>
      </p:pic>
      <p:sp>
        <p:nvSpPr>
          <p:cNvPr id="210" name="Google Shape;210;p13"/>
          <p:cNvSpPr txBox="1"/>
          <p:nvPr/>
        </p:nvSpPr>
        <p:spPr>
          <a:xfrm>
            <a:off x="9382371" y="6596390"/>
            <a:ext cx="2801700" cy="253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Inter"/>
                <a:ea typeface="Inter"/>
                <a:cs typeface="Inter"/>
                <a:sym typeface="Inter"/>
              </a:rPr>
              <a:t>U2 360 Tour “Claw” Stages</a:t>
            </a:r>
            <a:endParaRPr b="0" i="0" sz="1400" u="none" cap="none" strike="noStrike">
              <a:solidFill>
                <a:srgbClr val="000000"/>
              </a:solidFill>
              <a:latin typeface="Arial"/>
              <a:ea typeface="Arial"/>
              <a:cs typeface="Arial"/>
              <a:sym typeface="Arial"/>
            </a:endParaRPr>
          </a:p>
        </p:txBody>
      </p:sp>
      <p:sp>
        <p:nvSpPr>
          <p:cNvPr id="211" name="Google Shape;211;p13"/>
          <p:cNvSpPr txBox="1"/>
          <p:nvPr/>
        </p:nvSpPr>
        <p:spPr>
          <a:xfrm>
            <a:off x="-11" y="2812702"/>
            <a:ext cx="12184082" cy="81253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4800"/>
              <a:buFont typeface="Arial"/>
              <a:buNone/>
            </a:pPr>
            <a:r>
              <a:rPr b="0" i="0" lang="en-US" sz="4800" u="none" cap="none" strike="noStrike">
                <a:solidFill>
                  <a:srgbClr val="FFFFFF"/>
                </a:solidFill>
                <a:latin typeface="Outfit"/>
                <a:ea typeface="Outfit"/>
                <a:cs typeface="Outfit"/>
                <a:sym typeface="Outfit"/>
              </a:rPr>
              <a:t>Adaptive Reuse</a:t>
            </a:r>
            <a:endParaRPr b="0" i="0" sz="1400" u="none" cap="none" strike="noStrike">
              <a:solidFill>
                <a:srgbClr val="000000"/>
              </a:solidFill>
              <a:latin typeface="Arial"/>
              <a:ea typeface="Arial"/>
              <a:cs typeface="Arial"/>
              <a:sym typeface="Arial"/>
            </a:endParaRPr>
          </a:p>
        </p:txBody>
      </p:sp>
      <p:sp>
        <p:nvSpPr>
          <p:cNvPr id="212" name="Google Shape;212;p13"/>
          <p:cNvSpPr txBox="1"/>
          <p:nvPr/>
        </p:nvSpPr>
        <p:spPr>
          <a:xfrm>
            <a:off x="2486025" y="3673673"/>
            <a:ext cx="72201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Inter Light"/>
                <a:ea typeface="Inter Light"/>
                <a:cs typeface="Inter Light"/>
                <a:sym typeface="Inter Light"/>
              </a:rPr>
              <a:t>the permanence of temporary</a:t>
            </a:r>
            <a:endParaRPr b="0" i="0" sz="1100" u="none" cap="none" strike="noStrike">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Riffe, Steve</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ca07537-3519-4758-a98c-68d0ae03748e_Enabled">
    <vt:lpwstr>true</vt:lpwstr>
  </property>
  <property fmtid="{D5CDD505-2E9C-101B-9397-08002B2CF9AE}" pid="3" name="MSIP_Label_dca07537-3519-4758-a98c-68d0ae03748e_SetDate">
    <vt:lpwstr>2026-01-08T18:53:11Z</vt:lpwstr>
  </property>
  <property fmtid="{D5CDD505-2E9C-101B-9397-08002B2CF9AE}" pid="4" name="MSIP_Label_dca07537-3519-4758-a98c-68d0ae03748e_Method">
    <vt:lpwstr>Standard</vt:lpwstr>
  </property>
  <property fmtid="{D5CDD505-2E9C-101B-9397-08002B2CF9AE}" pid="5" name="MSIP_Label_dca07537-3519-4758-a98c-68d0ae03748e_Name">
    <vt:lpwstr>Internal Use</vt:lpwstr>
  </property>
  <property fmtid="{D5CDD505-2E9C-101B-9397-08002B2CF9AE}" pid="6" name="MSIP_Label_dca07537-3519-4758-a98c-68d0ae03748e_SiteId">
    <vt:lpwstr>e5bd3c32-3235-4c1d-a4e2-80e86c8cc2e7</vt:lpwstr>
  </property>
  <property fmtid="{D5CDD505-2E9C-101B-9397-08002B2CF9AE}" pid="7" name="MSIP_Label_dca07537-3519-4758-a98c-68d0ae03748e_ActionId">
    <vt:lpwstr>9909d696-d395-4dee-911f-0878d63a0ab8</vt:lpwstr>
  </property>
  <property fmtid="{D5CDD505-2E9C-101B-9397-08002B2CF9AE}" pid="8" name="MSIP_Label_dca07537-3519-4758-a98c-68d0ae03748e_ContentBits">
    <vt:lpwstr>0</vt:lpwstr>
  </property>
  <property fmtid="{D5CDD505-2E9C-101B-9397-08002B2CF9AE}" pid="9" name="MSIP_Label_dca07537-3519-4758-a98c-68d0ae03748e_Tag">
    <vt:lpwstr>10, 3, 0, 1</vt:lpwstr>
  </property>
</Properties>
</file>